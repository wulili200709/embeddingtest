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6400" y="279400"/>
            <a:ext cx="6604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2600" b="1">
                <a:solidFill>
                  <a:srgbClr val="192432"/>
                </a:solidFill>
                <a:latin typeface="微软雅黑" panose="020B0503020204020204" charset="-122"/>
                <a:ea typeface="微软雅黑" panose="020B0503020204020204" charset="-122"/>
              </a:rPr>
              <a:t>视觉检测内容说明</a:t>
            </a:r>
            <a:endParaRPr lang="zh-CN" altLang="en-US" sz="2600" b="1">
              <a:solidFill>
                <a:srgbClr val="1924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1800" y="723900"/>
            <a:ext cx="711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5D6C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全局检测界面</a:t>
            </a:r>
            <a:r>
              <a:rPr lang="en-US" altLang="zh-CN" sz="1100">
                <a:solidFill>
                  <a:srgbClr val="5D6C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>
                <a:solidFill>
                  <a:srgbClr val="5D6C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三个关键检测位置，现场按</a:t>
            </a:r>
            <a:r>
              <a:rPr lang="en-US" altLang="zh-CN" sz="1100">
                <a:solidFill>
                  <a:srgbClr val="5D6C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OK / NG </a:t>
            </a:r>
            <a:r>
              <a:rPr lang="zh-CN" altLang="en-US" sz="1100">
                <a:solidFill>
                  <a:srgbClr val="5D6C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输出结果</a:t>
            </a:r>
            <a:endParaRPr lang="zh-CN" altLang="en-US" sz="1100">
              <a:solidFill>
                <a:srgbClr val="5D6C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906000" y="355600"/>
            <a:ext cx="1879600" cy="355600"/>
          </a:xfrm>
          <a:prstGeom prst="roundRect">
            <a:avLst/>
          </a:prstGeom>
          <a:solidFill>
            <a:srgbClr val="E6F7EF"/>
          </a:solidFill>
          <a:ln>
            <a:solidFill>
              <a:srgbClr val="A8DC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121900" y="444500"/>
            <a:ext cx="1473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127E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检测输出：</a:t>
            </a:r>
            <a:r>
              <a:rPr lang="en-US" altLang="zh-CN" sz="1000" b="1">
                <a:solidFill>
                  <a:srgbClr val="127E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OK / NG</a:t>
            </a:r>
            <a:endParaRPr lang="en-US" altLang="zh-CN" sz="1000" b="1">
              <a:solidFill>
                <a:srgbClr val="127E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06400" y="1143000"/>
            <a:ext cx="39370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000" y="1346200"/>
            <a:ext cx="3302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</a:rPr>
              <a:t>全局图：检测工位界面</a:t>
            </a:r>
            <a:endParaRPr lang="zh-CN" altLang="en-US" sz="1400" b="1">
              <a:solidFill>
                <a:srgbClr val="1F2C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IMG_20260408_0824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83" y="1701800"/>
            <a:ext cx="2914834" cy="3886200"/>
          </a:xfrm>
          <a:prstGeom prst="rect">
            <a:avLst/>
          </a:prstGeom>
          <a:ln w="10160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635000" y="5765800"/>
            <a:ext cx="3276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4E5C6E"/>
                </a:solidFill>
                <a:latin typeface="微软雅黑" panose="020B0503020204020204" charset="-122"/>
                <a:ea typeface="微软雅黑" panose="020B0503020204020204" charset="-122"/>
              </a:rPr>
              <a:t>监控画面显示各相机检测窗口；绿色框为识别区域，右侧为综合判定。</a:t>
            </a:r>
            <a:endParaRPr lang="zh-CN" altLang="en-US" sz="1000">
              <a:solidFill>
                <a:srgbClr val="4E5C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648200" y="1143000"/>
            <a:ext cx="7137400" cy="520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02200" y="134620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</a:rPr>
              <a:t>检测内容</a:t>
            </a:r>
            <a:endParaRPr lang="zh-CN" altLang="en-US" sz="1400" b="1">
              <a:solidFill>
                <a:srgbClr val="1F2C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77500" y="1371600"/>
            <a:ext cx="11176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900">
                <a:solidFill>
                  <a:srgbClr val="727F91"/>
                </a:solidFill>
                <a:latin typeface="微软雅黑" panose="020B0503020204020204" charset="-122"/>
                <a:ea typeface="微软雅黑" panose="020B0503020204020204" charset="-122"/>
              </a:rPr>
              <a:t>检测项与判断目标</a:t>
            </a:r>
            <a:endParaRPr lang="zh-CN" altLang="en-US" sz="900">
              <a:solidFill>
                <a:srgbClr val="72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02200" y="1676400"/>
            <a:ext cx="6629400" cy="1371600"/>
          </a:xfrm>
          <a:prstGeom prst="roundRect">
            <a:avLst/>
          </a:prstGeom>
          <a:solidFill>
            <a:srgbClr val="FAFCFE"/>
          </a:solidFill>
          <a:ln w="10160">
            <a:solidFill>
              <a:srgbClr val="E3E8E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企业微信截图_1778650604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379" y="1866900"/>
            <a:ext cx="1756841" cy="990600"/>
          </a:xfrm>
          <a:prstGeom prst="rect">
            <a:avLst/>
          </a:prstGeom>
          <a:ln w="10160">
            <a:noFill/>
          </a:ln>
        </p:spPr>
      </p:pic>
      <p:sp>
        <p:nvSpPr>
          <p:cNvPr id="16" name="矩形 15"/>
          <p:cNvSpPr/>
          <p:nvPr/>
        </p:nvSpPr>
        <p:spPr>
          <a:xfrm>
            <a:off x="6936105" y="1925955"/>
            <a:ext cx="228600" cy="187960"/>
          </a:xfrm>
          <a:prstGeom prst="rect">
            <a:avLst/>
          </a:prstGeom>
          <a:noFill/>
          <a:ln w="31750">
            <a:solidFill>
              <a:srgbClr val="EB4E3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950200" y="1879600"/>
            <a:ext cx="279400" cy="279400"/>
          </a:xfrm>
          <a:prstGeom prst="ellipse">
            <a:avLst/>
          </a:prstGeom>
          <a:solidFill>
            <a:srgbClr val="246EB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039100" y="1930400"/>
            <a:ext cx="1016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43900" y="1879600"/>
            <a:ext cx="2921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</a:rPr>
              <a:t>二次锁安装状态</a:t>
            </a:r>
            <a:endParaRPr lang="zh-CN" altLang="en-US" sz="1300" b="1">
              <a:solidFill>
                <a:srgbClr val="1F2C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50200" y="2273300"/>
            <a:ext cx="3429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确认红色锁扣</a:t>
            </a:r>
            <a:r>
              <a:rPr lang="en-US" altLang="zh-CN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二次锁装配到位，避免缺件或未到位。</a:t>
            </a:r>
            <a:endParaRPr lang="zh-CN" altLang="en-US" sz="1000">
              <a:solidFill>
                <a:srgbClr val="4C5A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02200" y="3200400"/>
            <a:ext cx="6629400" cy="1371600"/>
          </a:xfrm>
          <a:prstGeom prst="roundRect">
            <a:avLst/>
          </a:prstGeom>
          <a:solidFill>
            <a:srgbClr val="FAFCFE"/>
          </a:solidFill>
          <a:ln w="10160">
            <a:solidFill>
              <a:srgbClr val="E3E8E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企业微信截图_177865063387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012" y="3390900"/>
            <a:ext cx="1269576" cy="990600"/>
          </a:xfrm>
          <a:prstGeom prst="rect">
            <a:avLst/>
          </a:prstGeom>
          <a:ln w="10160">
            <a:noFill/>
          </a:ln>
        </p:spPr>
      </p:pic>
      <p:sp>
        <p:nvSpPr>
          <p:cNvPr id="23" name="矩形 22"/>
          <p:cNvSpPr/>
          <p:nvPr/>
        </p:nvSpPr>
        <p:spPr>
          <a:xfrm>
            <a:off x="6616065" y="3712845"/>
            <a:ext cx="298450" cy="316865"/>
          </a:xfrm>
          <a:prstGeom prst="rect">
            <a:avLst/>
          </a:prstGeom>
          <a:noFill/>
          <a:ln w="31750">
            <a:solidFill>
              <a:srgbClr val="EB4E3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950200" y="3403600"/>
            <a:ext cx="279400" cy="279400"/>
          </a:xfrm>
          <a:prstGeom prst="ellipse">
            <a:avLst/>
          </a:prstGeom>
          <a:solidFill>
            <a:srgbClr val="246EB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039100" y="3454400"/>
            <a:ext cx="1016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43900" y="3403600"/>
            <a:ext cx="2921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</a:rPr>
              <a:t>侧面锁扣位置</a:t>
            </a:r>
            <a:endParaRPr lang="zh-CN" altLang="en-US" sz="1300" b="1">
              <a:solidFill>
                <a:srgbClr val="1F2C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50200" y="3797300"/>
            <a:ext cx="3429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</a:rPr>
              <a:t>复核锁扣区域，确认关键结构完整、位置正确。</a:t>
            </a:r>
            <a:endParaRPr lang="zh-CN" altLang="en-US" sz="1000">
              <a:solidFill>
                <a:srgbClr val="4C5A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902200" y="4724400"/>
            <a:ext cx="6629400" cy="1371600"/>
          </a:xfrm>
          <a:prstGeom prst="roundRect">
            <a:avLst/>
          </a:prstGeom>
          <a:solidFill>
            <a:srgbClr val="FAFCFE"/>
          </a:solidFill>
          <a:ln w="10160">
            <a:solidFill>
              <a:srgbClr val="E3E8E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企业微信截图_177865103325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159" y="4914900"/>
            <a:ext cx="2081281" cy="990600"/>
          </a:xfrm>
          <a:prstGeom prst="rect">
            <a:avLst/>
          </a:prstGeom>
          <a:ln w="10160">
            <a:noFill/>
          </a:ln>
        </p:spPr>
      </p:pic>
      <p:sp>
        <p:nvSpPr>
          <p:cNvPr id="30" name="矩形 29"/>
          <p:cNvSpPr/>
          <p:nvPr/>
        </p:nvSpPr>
        <p:spPr>
          <a:xfrm>
            <a:off x="5807075" y="5067935"/>
            <a:ext cx="530860" cy="539750"/>
          </a:xfrm>
          <a:prstGeom prst="rect">
            <a:avLst/>
          </a:prstGeom>
          <a:noFill/>
          <a:ln w="31750">
            <a:solidFill>
              <a:srgbClr val="EB4E3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7950200" y="4927600"/>
            <a:ext cx="279400" cy="279400"/>
          </a:xfrm>
          <a:prstGeom prst="ellipse">
            <a:avLst/>
          </a:prstGeom>
          <a:solidFill>
            <a:srgbClr val="246EB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039100" y="4978400"/>
            <a:ext cx="1016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43900" y="4927600"/>
            <a:ext cx="2921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前端冠簧与</a:t>
            </a:r>
            <a:r>
              <a:rPr lang="en-US" altLang="zh-CN" sz="13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 </a:t>
            </a:r>
            <a:r>
              <a:rPr lang="zh-CN" altLang="en-US" sz="1300" b="1">
                <a:solidFill>
                  <a:srgbClr val="1F2C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型圈</a:t>
            </a:r>
            <a:endParaRPr lang="zh-CN" altLang="en-US" sz="1300" b="1">
              <a:solidFill>
                <a:srgbClr val="1F2C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50200" y="5321300"/>
            <a:ext cx="3429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确认冠簧有无、</a:t>
            </a:r>
            <a:r>
              <a:rPr lang="en-US" altLang="zh-CN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 </a:t>
            </a:r>
            <a:r>
              <a:rPr lang="zh-CN" altLang="en-US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型圈在位，并输出</a:t>
            </a:r>
            <a:r>
              <a:rPr lang="en-US" altLang="zh-CN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OK/NG</a:t>
            </a:r>
            <a:r>
              <a:rPr lang="zh-CN" altLang="en-US" sz="1000">
                <a:solidFill>
                  <a:srgbClr val="4C5A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00">
              <a:solidFill>
                <a:srgbClr val="4C5A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902200" y="6451600"/>
            <a:ext cx="49530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900">
                <a:solidFill>
                  <a:srgbClr val="7481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检测目标：缺件、错位、未装到位等外观</a:t>
            </a:r>
            <a:r>
              <a:rPr lang="en-US" altLang="zh-CN" sz="900">
                <a:solidFill>
                  <a:srgbClr val="7481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7481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装配异常。</a:t>
            </a:r>
            <a:endParaRPr lang="zh-CN" altLang="en-US" sz="900">
              <a:solidFill>
                <a:srgbClr val="7481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</dc:creator>
  <cp:lastModifiedBy>Seven</cp:lastModifiedBy>
  <cp:revision>157</cp:revision>
  <dcterms:created xsi:type="dcterms:W3CDTF">2019-06-19T02:08:00Z</dcterms:created>
  <dcterms:modified xsi:type="dcterms:W3CDTF">2026-05-13T05:58:20Z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85E1273C5FE74600B79D0586C434A971_11</vt:lpwstr>
  </property>
</Properties>
</file>