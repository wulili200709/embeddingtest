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  <p:defaultTextStyle>
    <a:defPPr>
      <a:defRPr lang="zh-CN">
        <a:latin typeface="Microsoft YaHei"/>
        <a:ea typeface="Microsoft YaHei"/>
        <a:cs typeface="Microsoft YaHei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347472" y="7315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2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Local Vision Inspection System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458200" y="118872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/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领导汇报版  |  2026.05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02920" y="841248"/>
            <a:ext cx="1120140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2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从工程师配置，到现场自维护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21208" y="1344168"/>
            <a:ext cx="11018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2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目标：让现场人员通过 UI 添加样本、框选 ROI、点击学习，快速维护错装 / 漏装 / 反装检测项。</a:t>
            </a:r>
          </a:p>
        </p:txBody>
      </p:sp>
      <p:sp>
        <p:nvSpPr>
          <p:cNvPr id="7" name="shape"/>
          <p:cNvSpPr/>
          <p:nvPr/>
        </p:nvSpPr>
        <p:spPr>
          <a:xfrm>
            <a:off x="502920" y="1874520"/>
            <a:ext cx="5440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731520" y="202996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7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现场痛点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22960" y="2606040"/>
            <a:ext cx="480060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60000" indent="-180000">
              <a:lnSpc>
                <a:spcPct val="110000"/>
              </a:lnSpc>
              <a:buChar char="•"/>
            </a:pPr>
            <a:r>
              <a:rPr lang="zh-CN" sz="112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传统视觉适合固定规则和尺寸测量，但新增检测项仍依赖工程师。</a:t>
            </a:r>
          </a:p>
          <a:p>
            <a:pPr marL="260000" indent="-180000">
              <a:lnSpc>
                <a:spcPct val="110000"/>
              </a:lnSpc>
              <a:buChar char="•"/>
            </a:pPr>
            <a:r>
              <a:rPr lang="zh-CN" sz="112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换型、夹具变化、批次差异会带来 ROI / 阈值 / 流程维护成本。</a:t>
            </a:r>
          </a:p>
          <a:p>
            <a:pPr marL="260000" indent="-180000">
              <a:lnSpc>
                <a:spcPct val="110000"/>
              </a:lnSpc>
              <a:buChar char="•"/>
            </a:pPr>
            <a:r>
              <a:rPr lang="zh-CN" sz="112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错装、漏装、反装等外观差异，规则难以完整覆盖。</a:t>
            </a:r>
          </a:p>
          <a:p>
            <a:pPr marL="260000" indent="-180000">
              <a:lnSpc>
                <a:spcPct val="110000"/>
              </a:lnSpc>
              <a:buChar char="•"/>
            </a:pPr>
            <a:r>
              <a:rPr lang="zh-CN" sz="112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现场需要 teach-in 式操作：采样、标 ROI、学习、上线。</a:t>
            </a:r>
          </a:p>
        </p:txBody>
      </p:sp>
      <p:sp>
        <p:nvSpPr>
          <p:cNvPr id="10" name="shape"/>
          <p:cNvSpPr/>
          <p:nvPr/>
        </p:nvSpPr>
        <p:spPr>
          <a:xfrm>
            <a:off x="6263640" y="1874520"/>
            <a:ext cx="5440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6492240" y="2029968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7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510528" y="2578608"/>
            <a:ext cx="48920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把一部分 AI 检测维护能力下放到生产现场，降低对代码、算法流程和工程师调参的依赖。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473952" y="3657600"/>
            <a:ext cx="1024128" cy="475488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0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UI 操作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680960" y="3657600"/>
            <a:ext cx="1024128" cy="47548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0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添加样本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887968" y="3657600"/>
            <a:ext cx="1024128" cy="47548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0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调整 ROI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0094976" y="3657600"/>
            <a:ext cx="1024128" cy="4754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0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快速上线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510528" y="4370832"/>
            <a:ext cx="489204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1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适用方向：错装 / 漏装 / 反装 / 外观差异类检测</a:t>
            </a:r>
          </a:p>
        </p:txBody>
      </p:sp>
      <p:sp>
        <p:nvSpPr>
          <p:cNvPr id="18" name="shape"/>
          <p:cNvSpPr/>
          <p:nvPr/>
        </p:nvSpPr>
        <p:spPr>
          <a:xfrm>
            <a:off x="502920" y="5321808"/>
            <a:ext cx="11201400" cy="84124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713232" y="5468112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400" b="1">
                <a:solidFill>
                  <a:srgbClr val="075985"/>
                </a:solidFill>
                <a:latin typeface="Microsoft YaHei"/>
                <a:ea typeface="Microsoft YaHei"/>
                <a:cs typeface="Microsoft YaHei"/>
              </a:rPr>
              <a:t>汇报结论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148840" y="5440680"/>
            <a:ext cx="9281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降低维护门槛，缩短换型和新增检测项响应时间，用国产硬件和本地部署控制成本。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347472" y="7315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2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方案实现与当前验证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412480" y="11887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algn="r"/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AI Local System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02920" y="84124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技术路线：预训练特征 + OK/NG 样本注册 + 相似度判断</a:t>
            </a:r>
          </a:p>
        </p:txBody>
      </p:sp>
      <p:sp>
        <p:nvSpPr>
          <p:cNvPr id="25" name="shape"/>
          <p:cNvSpPr/>
          <p:nvPr/>
        </p:nvSpPr>
        <p:spPr>
          <a:xfrm>
            <a:off x="658368" y="14173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786384" y="1572768"/>
            <a:ext cx="384048" cy="384048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2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280160" y="151790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采集 OK/NG</a:t>
            </a:r>
          </a:p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样本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2788920" y="1901952"/>
            <a:ext cx="384048" cy="0"/>
          </a:xfrm>
          <a:prstGeom prst="straightConnector1">
            <a:avLst/>
          </a:prstGeom>
          <a:ln w="19050">
            <a:solidFill>
              <a:srgbClr val="94A3B8"/>
            </a:solidFill>
            <a:headEnd type="triangle"/>
          </a:ln>
        </p:spPr>
      </p:cxnSp>
      <p:sp>
        <p:nvSpPr>
          <p:cNvPr id="29" name="shape"/>
          <p:cNvSpPr/>
          <p:nvPr/>
        </p:nvSpPr>
        <p:spPr>
          <a:xfrm>
            <a:off x="3246120" y="14173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3374136" y="1572768"/>
            <a:ext cx="384048" cy="384048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2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867912" y="151790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框选检测</a:t>
            </a:r>
          </a:p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ROI</a:t>
            </a:r>
          </a:p>
        </p:txBody>
      </p:sp>
      <p:cxnSp>
        <p:nvCxnSpPr>
          <p:cNvPr id="32" name="arrow"/>
          <p:cNvCxnSpPr/>
          <p:nvPr/>
        </p:nvCxnSpPr>
        <p:spPr>
          <a:xfrm>
            <a:off x="5376672" y="1901952"/>
            <a:ext cx="384048" cy="0"/>
          </a:xfrm>
          <a:prstGeom prst="straightConnector1">
            <a:avLst/>
          </a:prstGeom>
          <a:ln w="19050">
            <a:solidFill>
              <a:srgbClr val="94A3B8"/>
            </a:solidFill>
            <a:headEnd type="triangle"/>
          </a:ln>
        </p:spPr>
      </p:cxnSp>
      <p:sp>
        <p:nvSpPr>
          <p:cNvPr id="33" name="shape"/>
          <p:cNvSpPr/>
          <p:nvPr/>
        </p:nvSpPr>
        <p:spPr>
          <a:xfrm>
            <a:off x="5833872" y="14173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4" name="text"/>
          <p:cNvSpPr txBox="1"/>
          <p:nvPr/>
        </p:nvSpPr>
        <p:spPr>
          <a:xfrm>
            <a:off x="5961888" y="1572768"/>
            <a:ext cx="384048" cy="384048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2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455664" y="151790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建立特征库</a:t>
            </a:r>
          </a:p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和 OK/NG 原型</a:t>
            </a:r>
          </a:p>
        </p:txBody>
      </p:sp>
      <p:cxnSp>
        <p:nvCxnSpPr>
          <p:cNvPr id="36" name="arrow"/>
          <p:cNvCxnSpPr/>
          <p:nvPr/>
        </p:nvCxnSpPr>
        <p:spPr>
          <a:xfrm>
            <a:off x="7964424" y="1901952"/>
            <a:ext cx="384048" cy="0"/>
          </a:xfrm>
          <a:prstGeom prst="straightConnector1">
            <a:avLst/>
          </a:prstGeom>
          <a:ln w="19050">
            <a:solidFill>
              <a:srgbClr val="94A3B8"/>
            </a:solidFill>
            <a:headEnd type="triangle"/>
          </a:ln>
        </p:spPr>
      </p:cxnSp>
      <p:sp>
        <p:nvSpPr>
          <p:cNvPr id="37" name="shape"/>
          <p:cNvSpPr/>
          <p:nvPr/>
        </p:nvSpPr>
        <p:spPr>
          <a:xfrm>
            <a:off x="8421624" y="141732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8" name="text"/>
          <p:cNvSpPr txBox="1"/>
          <p:nvPr/>
        </p:nvSpPr>
        <p:spPr>
          <a:xfrm>
            <a:off x="8549640" y="1572768"/>
            <a:ext cx="384048" cy="384048"/>
          </a:xfrm>
          <a:prstGeom prst="roundRect">
            <a:avLst/>
          </a:prstGeom>
          <a:solidFill>
            <a:srgbClr val="0EA5A4"/>
          </a:solidFill>
          <a:ln w="12700">
            <a:solidFill>
              <a:srgbClr val="0EA5A4"/>
            </a:solidFill>
          </a:ln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lang="zh-CN" sz="12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043416" y="1517904"/>
            <a:ext cx="12344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在线检测</a:t>
            </a:r>
          </a:p>
          <a:p>
            <a:pPr/>
            <a:r>
              <a:rPr lang="zh-CN" sz="112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输出 OK/NG</a:t>
            </a:r>
          </a:p>
        </p:txBody>
      </p:sp>
      <p:sp>
        <p:nvSpPr>
          <p:cNvPr id="40" name="shape"/>
          <p:cNvSpPr/>
          <p:nvPr/>
        </p:nvSpPr>
        <p:spPr>
          <a:xfrm>
            <a:off x="502920" y="2743200"/>
            <a:ext cx="530352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749808" y="2907792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核心做法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04672" y="3401568"/>
            <a:ext cx="4617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 marL="260000" indent="-180000">
              <a:lnSpc>
                <a:spcPct val="110000"/>
              </a:lnSpc>
              <a:buChar char="•"/>
            </a:pPr>
            <a:r>
              <a:rPr lang="zh-CN" sz="11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不走传统 CNN 重新训练分类头，固定官方预训练权重。</a:t>
            </a:r>
          </a:p>
          <a:p>
            <a:pPr marL="260000" indent="-180000">
              <a:lnSpc>
                <a:spcPct val="110000"/>
              </a:lnSpc>
              <a:buChar char="•"/>
            </a:pPr>
            <a:r>
              <a:rPr lang="zh-CN" sz="11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ROI 图像经过 CNN 提取边缘、纹理、形状等通用特征。</a:t>
            </a:r>
          </a:p>
          <a:p>
            <a:pPr marL="260000" indent="-180000">
              <a:lnSpc>
                <a:spcPct val="110000"/>
              </a:lnSpc>
              <a:buChar char="•"/>
            </a:pPr>
            <a:r>
              <a:rPr lang="zh-CN" sz="11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用少量 OK/NG 样本生成特征原型，在线按相似度判断。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04672" y="4663440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定位：补充传统视觉，不替代尺寸测量和强规则检测。</a:t>
            </a:r>
          </a:p>
        </p:txBody>
      </p:sp>
      <p:sp>
        <p:nvSpPr>
          <p:cNvPr id="44" name="shape"/>
          <p:cNvSpPr/>
          <p:nvPr/>
        </p:nvSpPr>
        <p:spPr>
          <a:xfrm>
            <a:off x="6172200" y="2743200"/>
            <a:ext cx="553212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6419088" y="2907792"/>
            <a:ext cx="4983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446520" y="3401568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3200" b="1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≈500 ms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485632" y="3529584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3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单相机检测节拍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473952" y="4187952"/>
            <a:ext cx="4800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Cam1：506.4 ms    Cam2：495.0 ms</a:t>
            </a:r>
          </a:p>
          <a:p>
            <a:pPr/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已覆盖采图、匹配、AI 推理和 OK/NG 输出链路。</a:t>
            </a:r>
          </a:p>
        </p:txBody>
      </p:sp>
      <p:sp>
        <p:nvSpPr>
          <p:cNvPr id="49" name="shape"/>
          <p:cNvSpPr/>
          <p:nvPr/>
        </p:nvSpPr>
        <p:spPr>
          <a:xfrm>
            <a:off x="502920" y="5285232"/>
            <a:ext cx="1120140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</p:sp>
      <p:sp>
        <p:nvSpPr>
          <p:cNvPr id="50" name="text"/>
          <p:cNvSpPr txBox="1"/>
          <p:nvPr/>
        </p:nvSpPr>
        <p:spPr>
          <a:xfrm>
            <a:off x="731520" y="5431536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4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1874520" y="5404104"/>
            <a:ext cx="93726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/>
          </a:bodyPr>
          <a:lstStyle/>
          <a:p>
            <a:pPr/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导入现场样本验证稳定性；固化 UI 流程、权限和模型文件保护；完成节拍、误判率和维护流程评估。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Local Theme">
  <a:themeElements>
    <a:clrScheme name="AI Local">
      <a:dk1>
        <a:srgbClr val="0F172A"/>
      </a:dk1>
      <a:lt1>
        <a:srgbClr val="FFFFFF"/>
      </a:lt1>
      <a:dk2>
        <a:srgbClr val="334155"/>
      </a:dk2>
      <a:lt2>
        <a:srgbClr val="F7F9FC"/>
      </a:lt2>
      <a:accent1>
        <a:srgbClr val="0EA5A4"/>
      </a:accent1>
      <a:accent2>
        <a:srgbClr val="2563EB"/>
      </a:accent2>
      <a:accent3>
        <a:srgbClr val="7C3AED"/>
      </a:accent3>
      <a:accent4>
        <a:srgbClr val="F59E0B"/>
      </a:accent4>
      <a:accent5>
        <a:srgbClr val="DC2626"/>
      </a:accent5>
      <a:accent6>
        <a:srgbClr val="047857"/>
      </a:accent6>
      <a:hlink>
        <a:srgbClr val="2563EB"/>
      </a:hlink>
      <a:folHlink>
        <a:srgbClr val="7C3AED"/>
      </a:folHlink>
    </a:clrScheme>
    <a:fontScheme name="AI Local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AI Local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Local System 领导汇报 2页版</dc:title>
  <dc:creator>Codex</dc:creator>
  <cp:lastModifiedBy>Codex</cp:lastModifiedBy>
  <dcterms:created xsi:type="dcterms:W3CDTF">2026-05-27T03:06:54Z</dcterms:created>
  <dcterms:modified xsi:type="dcterms:W3CDTF">2026-05-27T03:06:54Z</dcterms:modified>
</cp:coreProperties>
</file>