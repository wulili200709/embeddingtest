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999" cy="6858000" type="wide"/>
  <p:notesSz cx="6858000" cy="9144000"/>
  <p:defaultTextStyle>
    <a:defPPr>
      <a:defRPr lang="zh-CN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01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85800" y="1143000"/>
            <a:ext cx="1069848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4000" b="1">
                <a:solidFill>
                  <a:srgbClr val="0F172A"/>
                </a:solidFill>
                <a:latin typeface="Microsoft YaHei"/>
                <a:ea typeface="Microsoft YaHei"/>
              </a:rPr>
              <a:t>ROI Embedding 视觉检测算法分析</a:t>
            </a:r>
          </a:p>
          <a:p>
            <a:pPr algn="l"/>
            <a:r>
              <a:rPr lang="zh-CN" sz="2000">
                <a:solidFill>
                  <a:srgbClr val="475569"/>
                </a:solidFill>
                <a:latin typeface="Microsoft YaHei"/>
                <a:ea typeface="Microsoft YaHei"/>
              </a:rPr>
              <a:t>基于当前代码：模型原理、模型选择、层使用、传统特征对比</a:t>
            </a:r>
          </a:p>
        </p:txBody>
      </p:sp>
      <p:sp>
        <p:nvSpPr>
          <p:cNvPr id="3" name="Scope"/>
          <p:cNvSpPr txBox="1"/>
          <p:nvPr/>
        </p:nvSpPr>
        <p:spPr>
          <a:xfrm>
            <a:off x="777240" y="4069080"/>
            <a:ext cx="10287000" cy="8229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900">
                <a:solidFill>
                  <a:srgbClr val="334155"/>
                </a:solidFill>
                <a:latin typeface="Microsoft YaHei"/>
                <a:ea typeface="Microsoft YaHei"/>
              </a:rPr>
              <a:t>分析入口：Main.py 启动 UI；核心算法集中在 algorithms/embedding.py、algorithms/traditional.py、application/algorithm_controller.py。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01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02" name="Slide Title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算法原理：从 ROI 到相似度判定</a:t>
            </a:r>
          </a:p>
        </p:txBody>
      </p:sp>
      <p:sp>
        <p:nvSpPr>
          <p:cNvPr id="2" name="Main flow"/>
          <p:cNvSpPr txBox="1"/>
          <p:nvPr/>
        </p:nvSpPr>
        <p:spPr>
          <a:xfrm>
            <a:off x="685800" y="1051560"/>
            <a:ext cx="2971800" cy="960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100" b="1">
                <a:solidFill>
                  <a:srgbClr val="1F2937"/>
                </a:solidFill>
                <a:latin typeface="Microsoft YaHei"/>
                <a:ea typeface="Microsoft YaHei"/>
              </a:rPr>
              <a:t>1. ROI 标注/定位</a:t>
            </a:r>
          </a:p>
          <a:p>
            <a:pPr algn="l"/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读取 labelme ROI，支持矩形和 polygon mask</a:t>
            </a:r>
          </a:p>
        </p:txBody>
      </p:sp>
      <p:cxnSp>
        <p:nvCxnSpPr>
          <p:cNvPr id="3" name="Arrow 3"/>
          <p:cNvCxnSpPr/>
          <p:nvPr/>
        </p:nvCxnSpPr>
        <p:spPr>
          <a:xfrm>
            <a:off x="3703320" y="1536192"/>
            <a:ext cx="640080" cy="9144"/>
          </a:xfrm>
          <a:prstGeom prst="line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4" name="Feature"/>
          <p:cNvSpPr txBox="1"/>
          <p:nvPr/>
        </p:nvSpPr>
        <p:spPr>
          <a:xfrm>
            <a:off x="4389120" y="1051560"/>
            <a:ext cx="2971800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100" b="1">
                <a:solidFill>
                  <a:srgbClr val="1F2937"/>
                </a:solidFill>
                <a:latin typeface="Microsoft YaHei"/>
                <a:ea typeface="Microsoft YaHei"/>
              </a:rPr>
              <a:t>2. 预训练 CNN 提特征</a:t>
            </a:r>
          </a:p>
          <a:p>
            <a:pPr algn="l"/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Resize 224、ImageNet normalize、输出 L2 embedding</a:t>
            </a:r>
          </a:p>
        </p:txBody>
      </p:sp>
      <p:cxnSp>
        <p:nvCxnSpPr>
          <p:cNvPr id="5" name="Arrow 5"/>
          <p:cNvCxnSpPr/>
          <p:nvPr/>
        </p:nvCxnSpPr>
        <p:spPr>
          <a:xfrm>
            <a:off x="7406640" y="1536192"/>
            <a:ext cx="640080" cy="9144"/>
          </a:xfrm>
          <a:prstGeom prst="line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6" name="Decision"/>
          <p:cNvSpPr txBox="1"/>
          <p:nvPr/>
        </p:nvSpPr>
        <p:spPr>
          <a:xfrm>
            <a:off x="8092440" y="1051560"/>
            <a:ext cx="2971800" cy="9601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ED7AA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100" b="1">
                <a:solidFill>
                  <a:srgbClr val="1F2937"/>
                </a:solidFill>
                <a:latin typeface="Microsoft YaHei"/>
                <a:ea typeface="Microsoft YaHei"/>
              </a:rPr>
              <a:t>3. OK/NG 相似度判定</a:t>
            </a:r>
          </a:p>
          <a:p>
            <a:pPr algn="l"/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proto 或 topk；diff = simOK - simNG；diff &gt;= margin 为 OK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868680" y="2788920"/>
            <a:ext cx="10058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训练阶段：分别提取 OK/NG 样本 embedding，保存 OK/NG 原型向量与样本库。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推理阶段：对新图 ROI 提 embedding，与 OK/NG 原型或 top-k 样本相似度做比较。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多 ROI 场景：多个 ROI 的 embedding 拼接后再整体 L2 归一化，表达组合区域差异。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01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002" name="Slide Title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用了什么模型：三种预训练 CNN Backbone</a:t>
            </a:r>
          </a:p>
        </p:txBody>
      </p:sp>
      <p:sp>
        <p:nvSpPr>
          <p:cNvPr id="10" name="Table 0-0"/>
          <p:cNvSpPr txBox="1"/>
          <p:nvPr/>
        </p:nvSpPr>
        <p:spPr>
          <a:xfrm>
            <a:off x="685800" y="1051560"/>
            <a:ext cx="2423160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1" name="Table 0-1"/>
          <p:cNvSpPr txBox="1"/>
          <p:nvPr/>
        </p:nvSpPr>
        <p:spPr>
          <a:xfrm>
            <a:off x="3108960" y="1051560"/>
            <a:ext cx="1965960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输出维度</a:t>
            </a:r>
          </a:p>
        </p:txBody>
      </p:sp>
      <p:sp>
        <p:nvSpPr>
          <p:cNvPr id="12" name="Table 0-2"/>
          <p:cNvSpPr txBox="1"/>
          <p:nvPr/>
        </p:nvSpPr>
        <p:spPr>
          <a:xfrm>
            <a:off x="5074920" y="1051560"/>
            <a:ext cx="2880360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代码定位</a:t>
            </a:r>
          </a:p>
        </p:txBody>
      </p:sp>
      <p:sp>
        <p:nvSpPr>
          <p:cNvPr id="13" name="Table 0-3"/>
          <p:cNvSpPr txBox="1"/>
          <p:nvPr/>
        </p:nvSpPr>
        <p:spPr>
          <a:xfrm>
            <a:off x="7955280" y="1051560"/>
            <a:ext cx="3657600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选用理由</a:t>
            </a:r>
          </a:p>
        </p:txBody>
      </p:sp>
      <p:sp>
        <p:nvSpPr>
          <p:cNvPr id="14" name="Table 1-0"/>
          <p:cNvSpPr txBox="1"/>
          <p:nvPr/>
        </p:nvSpPr>
        <p:spPr>
          <a:xfrm>
            <a:off x="685800" y="1709928"/>
            <a:ext cx="24231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EfficientNet-B0</a:t>
            </a:r>
          </a:p>
        </p:txBody>
      </p:sp>
      <p:sp>
        <p:nvSpPr>
          <p:cNvPr id="15" name="Table 1-1"/>
          <p:cNvSpPr txBox="1"/>
          <p:nvPr/>
        </p:nvSpPr>
        <p:spPr>
          <a:xfrm>
            <a:off x="3108960" y="1709928"/>
            <a:ext cx="19659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1280</a:t>
            </a:r>
          </a:p>
        </p:txBody>
      </p:sp>
      <p:sp>
        <p:nvSpPr>
          <p:cNvPr id="16" name="Table 1-2"/>
          <p:cNvSpPr txBox="1"/>
          <p:nvPr/>
        </p:nvSpPr>
        <p:spPr>
          <a:xfrm>
            <a:off x="5074920" y="1709928"/>
            <a:ext cx="2880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默认/高精度学习工具</a:t>
            </a:r>
          </a:p>
        </p:txBody>
      </p:sp>
      <p:sp>
        <p:nvSpPr>
          <p:cNvPr id="17" name="Table 1-3"/>
          <p:cNvSpPr txBox="1"/>
          <p:nvPr/>
        </p:nvSpPr>
        <p:spPr>
          <a:xfrm>
            <a:off x="7955280" y="1709928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复合缩放结构，参数量相对可控；在精度优先场景作为默认 backbone。</a:t>
            </a:r>
          </a:p>
        </p:txBody>
      </p:sp>
      <p:sp>
        <p:nvSpPr>
          <p:cNvPr id="18" name="Table 2-0"/>
          <p:cNvSpPr txBox="1"/>
          <p:nvPr/>
        </p:nvSpPr>
        <p:spPr>
          <a:xfrm>
            <a:off x="685800" y="2368296"/>
            <a:ext cx="2423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MobileNetV3 Small</a:t>
            </a:r>
          </a:p>
        </p:txBody>
      </p:sp>
      <p:sp>
        <p:nvSpPr>
          <p:cNvPr id="19" name="Table 2-1"/>
          <p:cNvSpPr txBox="1"/>
          <p:nvPr/>
        </p:nvSpPr>
        <p:spPr>
          <a:xfrm>
            <a:off x="3108960" y="2368296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576</a:t>
            </a:r>
          </a:p>
        </p:txBody>
      </p:sp>
      <p:sp>
        <p:nvSpPr>
          <p:cNvPr id="20" name="Table 2-2"/>
          <p:cNvSpPr txBox="1"/>
          <p:nvPr/>
        </p:nvSpPr>
        <p:spPr>
          <a:xfrm>
            <a:off x="5074920" y="2368296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轻量学习工具</a:t>
            </a:r>
          </a:p>
        </p:txBody>
      </p:sp>
      <p:sp>
        <p:nvSpPr>
          <p:cNvPr id="21" name="Table 2-3"/>
          <p:cNvSpPr txBox="1"/>
          <p:nvPr/>
        </p:nvSpPr>
        <p:spPr>
          <a:xfrm>
            <a:off x="7955280" y="236829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移动端友好、推理快；适合算力受限或多 ROI 并发。</a:t>
            </a:r>
          </a:p>
        </p:txBody>
      </p:sp>
      <p:sp>
        <p:nvSpPr>
          <p:cNvPr id="22" name="Table 3-0"/>
          <p:cNvSpPr txBox="1"/>
          <p:nvPr/>
        </p:nvSpPr>
        <p:spPr>
          <a:xfrm>
            <a:off x="685800" y="3026664"/>
            <a:ext cx="24231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MobileNetV3 Large</a:t>
            </a:r>
          </a:p>
        </p:txBody>
      </p:sp>
      <p:sp>
        <p:nvSpPr>
          <p:cNvPr id="23" name="Table 3-1"/>
          <p:cNvSpPr txBox="1"/>
          <p:nvPr/>
        </p:nvSpPr>
        <p:spPr>
          <a:xfrm>
            <a:off x="3108960" y="3026664"/>
            <a:ext cx="19659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960</a:t>
            </a:r>
          </a:p>
        </p:txBody>
      </p:sp>
      <p:sp>
        <p:nvSpPr>
          <p:cNvPr id="24" name="Table 3-2"/>
          <p:cNvSpPr txBox="1"/>
          <p:nvPr/>
        </p:nvSpPr>
        <p:spPr>
          <a:xfrm>
            <a:off x="5074920" y="3026664"/>
            <a:ext cx="2880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均衡学习工具</a:t>
            </a:r>
          </a:p>
        </p:txBody>
      </p:sp>
      <p:sp>
        <p:nvSpPr>
          <p:cNvPr id="25" name="Table 3-3"/>
          <p:cNvSpPr txBox="1"/>
          <p:nvPr/>
        </p:nvSpPr>
        <p:spPr>
          <a:xfrm>
            <a:off x="7955280" y="3026664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比 Small 表达能力更强，又比高精度方案更轻，作为速度/精度折中。</a:t>
            </a:r>
          </a:p>
        </p:txBody>
      </p:sp>
      <p:sp>
        <p:nvSpPr>
          <p:cNvPr id="30" name="Why pretrained"/>
          <p:cNvSpPr txBox="1"/>
          <p:nvPr/>
        </p:nvSpPr>
        <p:spPr>
          <a:xfrm>
            <a:off x="822960" y="4572000"/>
            <a:ext cx="1014984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000">
                <a:solidFill>
                  <a:srgbClr val="334155"/>
                </a:solidFill>
                <a:latin typeface="Microsoft YaHei"/>
                <a:ea typeface="Microsoft YaHei"/>
              </a:rPr>
              <a:t>三者都加载 torchvision 的 ImageNet 预训练权重，不重新训练分类头；这适合工业小样本注册：样本少、上线快、只需学习 OK/NG 相似边界。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01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002" name="Slide Title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层使用：去分类头，使用最终特征图</a:t>
            </a:r>
          </a:p>
        </p:txBody>
      </p:sp>
      <p:sp>
        <p:nvSpPr>
          <p:cNvPr id="2" name="Implementation"/>
          <p:cNvSpPr txBox="1"/>
          <p:nvPr/>
        </p:nvSpPr>
        <p:spPr>
          <a:xfrm>
            <a:off x="731520" y="1051560"/>
            <a:ext cx="5303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代码中的特征生成方式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取 model.features，去掉分类器 head。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对最后的卷积特征图做 AdaptiveAvgPool2d(1)。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flatten 后做 F.normalize，得到单位向量。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相似度直接用点积，即 cosine similarity。</a:t>
            </a:r>
          </a:p>
        </p:txBody>
      </p:sp>
      <p:sp>
        <p:nvSpPr>
          <p:cNvPr id="3" name="Why"/>
          <p:cNvSpPr txBox="1"/>
          <p:nvPr/>
        </p:nvSpPr>
        <p:spPr>
          <a:xfrm>
            <a:off x="6263640" y="1051560"/>
            <a:ext cx="5074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为什么这样表达特征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分类头输出的是 ImageNet 类别分数，不适合本项目 OK/NG 注册。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最终卷积特征保留目标的纹理、形状和局部模式信息。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全局池化让不同 ROI 尺寸变成固定长度向量。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L2 归一化降低亮度/尺度导致的向量幅值影响。</a:t>
            </a:r>
          </a:p>
        </p:txBody>
      </p:sp>
      <p:sp>
        <p:nvSpPr>
          <p:cNvPr id="4" name="Layer note"/>
          <p:cNvSpPr txBox="1"/>
          <p:nvPr/>
        </p:nvSpPr>
        <p:spPr>
          <a:xfrm>
            <a:off x="868680" y="4617720"/>
            <a:ext cx="10104120" cy="7132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000" b="1">
                <a:solidFill>
                  <a:srgbClr val="334155"/>
                </a:solidFill>
                <a:latin typeface="Microsoft YaHei"/>
                <a:ea typeface="Microsoft YaHei"/>
              </a:rPr>
              <a:t>层选择结论：代码没有手工选择某个中间层；实际使用的是各 backbone 的 features 最终输出。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01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002" name="Slide Title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判定逻辑：原型相似度与 Top-K 相似度</a:t>
            </a:r>
          </a:p>
        </p:txBody>
      </p:sp>
      <p:sp>
        <p:nvSpPr>
          <p:cNvPr id="2" name="Training"/>
          <p:cNvSpPr txBox="1"/>
          <p:nvPr/>
        </p:nvSpPr>
        <p:spPr>
          <a:xfrm>
            <a:off x="731520" y="1005840"/>
            <a:ext cx="5074920" cy="425196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500" b="1">
                <a:solidFill>
                  <a:srgbClr val="1F2937"/>
                </a:solidFill>
                <a:latin typeface="Microsoft YaHei"/>
                <a:ea typeface="Microsoft YaHei"/>
              </a:rPr>
              <a:t>训练/注册阶段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OK 样本 embedding -&gt; ok_bank。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NG 样本 embedding -&gt; ng_bank。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分别求均值得到 ok_proto、ng_proto，并再次归一化。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保存 backbone、score_mode、margin、topk、label_names 和特征库到 npz。</a:t>
            </a:r>
          </a:p>
        </p:txBody>
      </p:sp>
      <p:sp>
        <p:nvSpPr>
          <p:cNvPr id="3" name="Inference"/>
          <p:cNvSpPr txBox="1"/>
          <p:nvPr/>
        </p:nvSpPr>
        <p:spPr>
          <a:xfrm>
            <a:off x="6172200" y="1005840"/>
            <a:ext cx="5074920" cy="4251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500" b="1">
                <a:solidFill>
                  <a:srgbClr val="1F2937"/>
                </a:solidFill>
                <a:latin typeface="Microsoft YaHei"/>
                <a:ea typeface="Microsoft YaHei"/>
              </a:rPr>
              <a:t>推理/判定阶段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proto 模式：simOK = e·ok_proto，simNG = e·ng_proto。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topk 模式：取与 OK/NG 样本库最相似的 k 个均值。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diff = simOK - simNG。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diff &gt;= margin 判 OK，否则判 NG。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01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02" name="Slide Title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为什么选这些模型与后端</a:t>
            </a:r>
          </a:p>
        </p:txBody>
      </p:sp>
      <p:sp>
        <p:nvSpPr>
          <p:cNvPr id="2" name="Backend"/>
          <p:cNvSpPr txBox="1"/>
          <p:nvPr/>
        </p:nvSpPr>
        <p:spPr>
          <a:xfrm>
            <a:off x="685800" y="1005840"/>
            <a:ext cx="1046988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200">
                <a:solidFill>
                  <a:srgbClr val="334155"/>
                </a:solidFill>
                <a:latin typeface="Microsoft YaHei"/>
                <a:ea typeface="Microsoft YaHei"/>
              </a:rPr>
              <a:t>推理后端优先使用 ONNX Runtime：代码会把 PyTorch backbone 导出为 ONNX，并缓存优化后的 .ort 文件；不可用时回退到 Torch。</a:t>
            </a:r>
          </a:p>
        </p:txBody>
      </p:sp>
      <p:sp>
        <p:nvSpPr>
          <p:cNvPr id="3" name="Benefits"/>
          <p:cNvSpPr txBox="1"/>
          <p:nvPr/>
        </p:nvSpPr>
        <p:spPr>
          <a:xfrm>
            <a:off x="868680" y="2514600"/>
            <a:ext cx="4754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500" b="1">
                <a:solidFill>
                  <a:srgbClr val="1F2937"/>
                </a:solidFill>
                <a:latin typeface="Microsoft YaHei"/>
                <a:ea typeface="Microsoft YaHei"/>
              </a:rPr>
              <a:t>为什么这适合产线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推理速度更稳定，CPU/GPU provider 可配置。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模型文件缓存，避免每次重新导出。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业务训练只保存少量向量库，不改变 backbone。</a:t>
            </a:r>
          </a:p>
        </p:txBody>
      </p:sp>
      <p:sp>
        <p:nvSpPr>
          <p:cNvPr id="4" name="Tradeoff"/>
          <p:cNvSpPr txBox="1"/>
          <p:nvPr/>
        </p:nvSpPr>
        <p:spPr>
          <a:xfrm>
            <a:off x="6172200" y="2514600"/>
            <a:ext cx="4754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500" b="1">
                <a:solidFill>
                  <a:srgbClr val="1F2937"/>
                </a:solidFill>
                <a:latin typeface="Microsoft YaHei"/>
                <a:ea typeface="Microsoft YaHei"/>
              </a:rPr>
              <a:t>设计取舍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不需要大量本项目标注数据训练深度模型。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margin/topk 可按产品快速调整。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特征表达能力由预训练 backbone 决定。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01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02" name="Slide Title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为什么不用传统方法表示主特征</a:t>
            </a:r>
          </a:p>
        </p:txBody>
      </p:sp>
      <p:sp>
        <p:nvSpPr>
          <p:cNvPr id="2" name="Traditional implemented"/>
          <p:cNvSpPr txBox="1"/>
          <p:nvPr/>
        </p:nvSpPr>
        <p:spPr>
          <a:xfrm>
            <a:off x="731520" y="1051560"/>
            <a:ext cx="493776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500" b="1">
                <a:solidFill>
                  <a:srgbClr val="1F2937"/>
                </a:solidFill>
                <a:latin typeface="Microsoft YaHei"/>
                <a:ea typeface="Microsoft YaHei"/>
              </a:rPr>
              <a:t>代码里已有的传统特征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meanintensity：ROI 灰度均值。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meanstd：ROI 灰度标准差。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meanhsv_h/s/v：HSV 三通道均值。</a:t>
            </a:r>
          </a:p>
          <a:p>
            <a:pPr marL="285750" indent="-171450">
              <a:buFont typeface="Arial"/>
              <a:buChar char="•"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</a:rPr>
              <a:t>训练方式：扫描阈值，选择 OK/NG 准确率最高的 threshold。</a:t>
            </a:r>
          </a:p>
        </p:txBody>
      </p:sp>
      <p:sp>
        <p:nvSpPr>
          <p:cNvPr id="3" name="Limitation"/>
          <p:cNvSpPr txBox="1"/>
          <p:nvPr/>
        </p:nvSpPr>
        <p:spPr>
          <a:xfrm>
            <a:off x="6172200" y="1051560"/>
            <a:ext cx="4937760" cy="4480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500" b="1">
                <a:solidFill>
                  <a:srgbClr val="1F2937"/>
                </a:solidFill>
                <a:latin typeface="Microsoft YaHei"/>
                <a:ea typeface="Microsoft YaHei"/>
              </a:rPr>
              <a:t>为什么不用它做主特征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表达维度太低，主要是亮度/颜色统计，难以表示形状、纹理、局部结构。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对光照、曝光、ROI 偏移、背景变化更敏感。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OK 与 NG 差异如果不是单一颜色/亮度变化，阈值法容易重叠。</a:t>
            </a:r>
          </a:p>
          <a:p>
            <a:pPr marL="285750" indent="-171450">
              <a:buFont typeface="Arial"/>
              <a:buChar char="•"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多缺陷、多产品、多 ROI 组合时，人工设计规则维护成本高。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01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002" name="Slide Title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Embedding 与传统特征的对比</a:t>
            </a:r>
          </a:p>
        </p:txBody>
      </p:sp>
      <p:sp>
        <p:nvSpPr>
          <p:cNvPr id="10" name="Table 0-0"/>
          <p:cNvSpPr txBox="1"/>
          <p:nvPr/>
        </p:nvSpPr>
        <p:spPr>
          <a:xfrm>
            <a:off x="594360" y="960120"/>
            <a:ext cx="2194560" cy="62179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维度</a:t>
            </a:r>
          </a:p>
        </p:txBody>
      </p:sp>
      <p:sp>
        <p:nvSpPr>
          <p:cNvPr id="11" name="Table 0-1"/>
          <p:cNvSpPr txBox="1"/>
          <p:nvPr/>
        </p:nvSpPr>
        <p:spPr>
          <a:xfrm>
            <a:off x="2788920" y="960120"/>
            <a:ext cx="4434840" cy="62179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Embedding 方法</a:t>
            </a:r>
          </a:p>
        </p:txBody>
      </p:sp>
      <p:sp>
        <p:nvSpPr>
          <p:cNvPr id="12" name="Table 0-2"/>
          <p:cNvSpPr txBox="1"/>
          <p:nvPr/>
        </p:nvSpPr>
        <p:spPr>
          <a:xfrm>
            <a:off x="7223760" y="960120"/>
            <a:ext cx="4434840" cy="62179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传统统计方法</a:t>
            </a:r>
          </a:p>
        </p:txBody>
      </p:sp>
      <p:sp>
        <p:nvSpPr>
          <p:cNvPr id="13" name="Table 1-0"/>
          <p:cNvSpPr txBox="1"/>
          <p:nvPr/>
        </p:nvSpPr>
        <p:spPr>
          <a:xfrm>
            <a:off x="594360" y="1581912"/>
            <a:ext cx="219456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特征表达</a:t>
            </a:r>
          </a:p>
        </p:txBody>
      </p:sp>
      <p:sp>
        <p:nvSpPr>
          <p:cNvPr id="14" name="Table 1-1"/>
          <p:cNvSpPr txBox="1"/>
          <p:nvPr/>
        </p:nvSpPr>
        <p:spPr>
          <a:xfrm>
            <a:off x="2788920" y="1581912"/>
            <a:ext cx="44348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CNN 学到纹理、边缘、形状、局部模式的组合语义。</a:t>
            </a:r>
          </a:p>
        </p:txBody>
      </p:sp>
      <p:sp>
        <p:nvSpPr>
          <p:cNvPr id="15" name="Table 1-2"/>
          <p:cNvSpPr txBox="1"/>
          <p:nvPr/>
        </p:nvSpPr>
        <p:spPr>
          <a:xfrm>
            <a:off x="7223760" y="1581912"/>
            <a:ext cx="44348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灰度/HSV 均值、标准差等低维统计。</a:t>
            </a:r>
          </a:p>
        </p:txBody>
      </p:sp>
      <p:sp>
        <p:nvSpPr>
          <p:cNvPr id="16" name="Table 2-0"/>
          <p:cNvSpPr txBox="1"/>
          <p:nvPr/>
        </p:nvSpPr>
        <p:spPr>
          <a:xfrm>
            <a:off x="594360" y="2203704"/>
            <a:ext cx="2194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样本需求</a:t>
            </a:r>
          </a:p>
        </p:txBody>
      </p:sp>
      <p:sp>
        <p:nvSpPr>
          <p:cNvPr id="17" name="Table 2-1"/>
          <p:cNvSpPr txBox="1"/>
          <p:nvPr/>
        </p:nvSpPr>
        <p:spPr>
          <a:xfrm>
            <a:off x="2788920" y="2203704"/>
            <a:ext cx="4434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少量 OK/NG 样本即可注册原型与样本库。</a:t>
            </a:r>
          </a:p>
        </p:txBody>
      </p:sp>
      <p:sp>
        <p:nvSpPr>
          <p:cNvPr id="18" name="Table 2-2"/>
          <p:cNvSpPr txBox="1"/>
          <p:nvPr/>
        </p:nvSpPr>
        <p:spPr>
          <a:xfrm>
            <a:off x="7223760" y="2203704"/>
            <a:ext cx="4434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每个缺陷类型通常要重新挑指标与阈值。</a:t>
            </a:r>
          </a:p>
        </p:txBody>
      </p:sp>
      <p:sp>
        <p:nvSpPr>
          <p:cNvPr id="19" name="Table 3-0"/>
          <p:cNvSpPr txBox="1"/>
          <p:nvPr/>
        </p:nvSpPr>
        <p:spPr>
          <a:xfrm>
            <a:off x="594360" y="2825496"/>
            <a:ext cx="219456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鲁棒性</a:t>
            </a:r>
          </a:p>
        </p:txBody>
      </p:sp>
      <p:sp>
        <p:nvSpPr>
          <p:cNvPr id="20" name="Table 3-1"/>
          <p:cNvSpPr txBox="1"/>
          <p:nvPr/>
        </p:nvSpPr>
        <p:spPr>
          <a:xfrm>
            <a:off x="2788920" y="2825496"/>
            <a:ext cx="44348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归一化 embedding + 相似度比较，容忍一定外观扰动。</a:t>
            </a:r>
          </a:p>
        </p:txBody>
      </p:sp>
      <p:sp>
        <p:nvSpPr>
          <p:cNvPr id="21" name="Table 3-2"/>
          <p:cNvSpPr txBox="1"/>
          <p:nvPr/>
        </p:nvSpPr>
        <p:spPr>
          <a:xfrm>
            <a:off x="7223760" y="2825496"/>
            <a:ext cx="44348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容易受光照、曝光、ROI 偏移影响。</a:t>
            </a:r>
          </a:p>
        </p:txBody>
      </p:sp>
      <p:sp>
        <p:nvSpPr>
          <p:cNvPr id="22" name="Table 4-0"/>
          <p:cNvSpPr txBox="1"/>
          <p:nvPr/>
        </p:nvSpPr>
        <p:spPr>
          <a:xfrm>
            <a:off x="594360" y="3447288"/>
            <a:ext cx="2194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可扩展性</a:t>
            </a:r>
          </a:p>
        </p:txBody>
      </p:sp>
      <p:sp>
        <p:nvSpPr>
          <p:cNvPr id="23" name="Table 4-1"/>
          <p:cNvSpPr txBox="1"/>
          <p:nvPr/>
        </p:nvSpPr>
        <p:spPr>
          <a:xfrm>
            <a:off x="2788920" y="3447288"/>
            <a:ext cx="4434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换产品主要重注册样本，backbone 可复用。</a:t>
            </a:r>
          </a:p>
        </p:txBody>
      </p:sp>
      <p:sp>
        <p:nvSpPr>
          <p:cNvPr id="24" name="Table 4-2"/>
          <p:cNvSpPr txBox="1"/>
          <p:nvPr/>
        </p:nvSpPr>
        <p:spPr>
          <a:xfrm>
            <a:off x="7223760" y="3447288"/>
            <a:ext cx="4434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新增产品/缺陷常要增加规则。</a:t>
            </a:r>
          </a:p>
        </p:txBody>
      </p:sp>
      <p:sp>
        <p:nvSpPr>
          <p:cNvPr id="25" name="Table 5-0"/>
          <p:cNvSpPr txBox="1"/>
          <p:nvPr/>
        </p:nvSpPr>
        <p:spPr>
          <a:xfrm>
            <a:off x="594360" y="4069080"/>
            <a:ext cx="219456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适用场景</a:t>
            </a:r>
          </a:p>
        </p:txBody>
      </p:sp>
      <p:sp>
        <p:nvSpPr>
          <p:cNvPr id="26" name="Table 5-1"/>
          <p:cNvSpPr txBox="1"/>
          <p:nvPr/>
        </p:nvSpPr>
        <p:spPr>
          <a:xfrm>
            <a:off x="2788920" y="4069080"/>
            <a:ext cx="44348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主方案：外观差异复杂、纹理/形状缺陷。</a:t>
            </a:r>
          </a:p>
        </p:txBody>
      </p:sp>
      <p:sp>
        <p:nvSpPr>
          <p:cNvPr id="27" name="Table 5-2"/>
          <p:cNvSpPr txBox="1"/>
          <p:nvPr/>
        </p:nvSpPr>
        <p:spPr>
          <a:xfrm>
            <a:off x="7223760" y="4069080"/>
            <a:ext cx="44348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400">
                <a:solidFill>
                  <a:srgbClr val="0F172A"/>
                </a:solidFill>
                <a:latin typeface="Microsoft YaHei"/>
                <a:ea typeface="Microsoft YaHei"/>
              </a:rPr>
              <a:t>辅助/基线：颜色、亮度、面积变化非常明确。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001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002" name="Slide Title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可用于汇报的核心表述</a:t>
            </a:r>
          </a:p>
        </p:txBody>
      </p:sp>
      <p:sp>
        <p:nvSpPr>
          <p:cNvPr id="2" name="Summary"/>
          <p:cNvSpPr txBox="1"/>
          <p:nvPr/>
        </p:nvSpPr>
        <p:spPr>
          <a:xfrm>
            <a:off x="777240" y="1051560"/>
            <a:ext cx="10287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2800" b="1">
                <a:solidFill>
                  <a:srgbClr val="0F172A"/>
                </a:solidFill>
                <a:latin typeface="Microsoft YaHei"/>
                <a:ea typeface="Microsoft YaHei"/>
              </a:rPr>
              <a:t>结论</a:t>
            </a:r>
          </a:p>
          <a:p>
            <a:pPr marL="285750" indent="-171450">
              <a:buFont typeface="Arial"/>
              <a:buChar char="•"/>
            </a:pPr>
            <a:r>
              <a:rPr lang="zh-CN" sz="2300">
                <a:solidFill>
                  <a:srgbClr val="1F2937"/>
                </a:solidFill>
                <a:latin typeface="Microsoft YaHei"/>
                <a:ea typeface="Microsoft YaHei"/>
              </a:rPr>
              <a:t>本项目采用“预训练 CNN embedding + OK/NG 原型/Top-K 相似度 + margin”的小样本注册式检测。</a:t>
            </a:r>
          </a:p>
          <a:p>
            <a:pPr marL="285750" indent="-171450">
              <a:buFont typeface="Arial"/>
              <a:buChar char="•"/>
            </a:pPr>
            <a:r>
              <a:rPr lang="zh-CN" sz="2300">
                <a:solidFill>
                  <a:srgbClr val="1F2937"/>
                </a:solidFill>
                <a:latin typeface="Microsoft YaHei"/>
                <a:ea typeface="Microsoft YaHei"/>
              </a:rPr>
              <a:t>EfficientNet-B0、MobileNetV3 Small/Large 分别覆盖高精度、轻量、均衡三种工程需求。</a:t>
            </a:r>
          </a:p>
          <a:p>
            <a:pPr marL="285750" indent="-171450">
              <a:buFont typeface="Arial"/>
              <a:buChar char="•"/>
            </a:pPr>
            <a:r>
              <a:rPr lang="zh-CN" sz="2300">
                <a:solidFill>
                  <a:srgbClr val="1F2937"/>
                </a:solidFill>
                <a:latin typeface="Microsoft YaHei"/>
                <a:ea typeface="Microsoft YaHei"/>
              </a:rPr>
              <a:t>代码没有人工选择中间层；使用 backbone.features 的最终特征图，去掉分类头后做池化和归一化。</a:t>
            </a:r>
          </a:p>
          <a:p>
            <a:pPr marL="285750" indent="-171450">
              <a:buFont typeface="Arial"/>
              <a:buChar char="•"/>
            </a:pPr>
            <a:r>
              <a:rPr lang="zh-CN" sz="2300">
                <a:solidFill>
                  <a:srgbClr val="1F2937"/>
                </a:solidFill>
                <a:latin typeface="Microsoft YaHei"/>
                <a:ea typeface="Microsoft YaHei"/>
              </a:rPr>
              <a:t>传统统计特征保留为简单场景和基线，但不适合作为复杂外观检测的主表示。</a:t>
            </a:r>
          </a:p>
        </p:txBody>
      </p:sp>
      <p:sp>
        <p:nvSpPr>
          <p:cNvPr id="3" name="References"/>
          <p:cNvSpPr txBox="1"/>
          <p:nvPr/>
        </p:nvSpPr>
        <p:spPr>
          <a:xfrm>
            <a:off x="868680" y="4983480"/>
            <a:ext cx="10104120" cy="7315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57150" rIns="91440" bIns="57150">
            <a:spAutoFit/>
          </a:bodyPr>
          <a:lstStyle/>
          <a:p>
            <a:pPr algn="l"/>
            <a:r>
              <a:rPr lang="zh-CN" sz="1700">
                <a:solidFill>
                  <a:srgbClr val="475569"/>
                </a:solidFill>
                <a:latin typeface="Microsoft YaHei"/>
                <a:ea typeface="Microsoft YaHei"/>
              </a:rPr>
              <a:t>代码依据：algorithms/embedding.py；algorithms/traditional.py；algorithms/registry.py；application/algorithm_controller.py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ddingAnalysis">
  <a:themeElements>
    <a:clrScheme name="Custom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EA580C"/>
      </a:accent3>
      <a:accent4>
        <a:srgbClr val="7C3AED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Custom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Custom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Embedding 视觉检测算法分析</dc:title>
  <dc:creator>Codex</dc:creator>
  <dcterms:created xsi:type="dcterms:W3CDTF">2026-05-05T09:55:20Z</dcterms:created>
  <dcterms:modified xsi:type="dcterms:W3CDTF">2026-05-05T09:55:20Z</dcterms:modified>
</cp:coreProperties>
</file>