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ROI Embedding 视觉检测方案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Main title"/>
          <p:cNvSpPr txBox="1"/>
          <p:nvPr/>
        </p:nvSpPr>
        <p:spPr>
          <a:xfrm>
            <a:off x="502920" y="658368"/>
            <a:ext cx="694944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3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小样本学习检测：比传统阈值更稳的原因</a:t>
            </a:r>
            <a:endParaRPr lang="zh-CN" sz="3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ubtitle"/>
          <p:cNvSpPr txBox="1"/>
          <p:nvPr/>
        </p:nvSpPr>
        <p:spPr>
          <a:xfrm>
            <a:off x="530352" y="12984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6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围绕：传统方法缺点、模型检测优势、算法原理、为什么丢弃分类头</a:t>
            </a:r>
            <a:endParaRPr lang="zh-CN" sz="16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Image card"/>
          <p:cNvSpPr/>
          <p:nvPr/>
        </p:nvSpPr>
        <p:spPr>
          <a:xfrm>
            <a:off x="502920" y="187452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3" name="Image title"/>
          <p:cNvSpPr txBox="1"/>
          <p:nvPr/>
        </p:nvSpPr>
        <p:spPr>
          <a:xfrm>
            <a:off x="548640" y="30358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ROI 样本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ROI 样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746" y="2039112"/>
            <a:ext cx="1811547" cy="9144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15" name="Image card"/>
          <p:cNvSpPr/>
          <p:nvPr/>
        </p:nvSpPr>
        <p:spPr>
          <a:xfrm>
            <a:off x="3520440" y="187452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6" name="Image title"/>
          <p:cNvSpPr txBox="1"/>
          <p:nvPr/>
        </p:nvSpPr>
        <p:spPr>
          <a:xfrm>
            <a:off x="3566160" y="303580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选择区域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选择区域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782" y="2039112"/>
            <a:ext cx="1194515" cy="9144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18" name="Image card"/>
          <p:cNvSpPr/>
          <p:nvPr/>
        </p:nvSpPr>
        <p:spPr>
          <a:xfrm>
            <a:off x="6537960" y="1874520"/>
            <a:ext cx="20574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9" name="Image title"/>
          <p:cNvSpPr txBox="1"/>
          <p:nvPr/>
        </p:nvSpPr>
        <p:spPr>
          <a:xfrm>
            <a:off x="6583680" y="303580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特征分布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特征分布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720" y="2039112"/>
            <a:ext cx="1101880" cy="91440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1" name="Image card"/>
          <p:cNvSpPr/>
          <p:nvPr/>
        </p:nvSpPr>
        <p:spPr>
          <a:xfrm>
            <a:off x="8869680" y="1874520"/>
            <a:ext cx="24231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22" name="Image title"/>
          <p:cNvSpPr txBox="1"/>
          <p:nvPr/>
        </p:nvSpPr>
        <p:spPr>
          <a:xfrm>
            <a:off x="8915400" y="3035808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开始学习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开始学习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133066"/>
            <a:ext cx="2057400" cy="726491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4" name="Flow step"/>
          <p:cNvSpPr txBox="1"/>
          <p:nvPr/>
        </p:nvSpPr>
        <p:spPr>
          <a:xfrm>
            <a:off x="822960" y="4892040"/>
            <a:ext cx="1691640" cy="4389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添加 OK/NG 样本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Arrow 25"/>
          <p:cNvCxnSpPr/>
          <p:nvPr/>
        </p:nvCxnSpPr>
        <p:spPr>
          <a:xfrm>
            <a:off x="2697480" y="5111496"/>
            <a:ext cx="59436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26" name="Flow step"/>
          <p:cNvSpPr txBox="1"/>
          <p:nvPr/>
        </p:nvSpPr>
        <p:spPr>
          <a:xfrm>
            <a:off x="3429000" y="4892040"/>
            <a:ext cx="1783080" cy="4389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选择匹配/学习区域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Arrow 27"/>
          <p:cNvCxnSpPr/>
          <p:nvPr/>
        </p:nvCxnSpPr>
        <p:spPr>
          <a:xfrm>
            <a:off x="5394960" y="5111496"/>
            <a:ext cx="59436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28" name="Flow step"/>
          <p:cNvSpPr txBox="1"/>
          <p:nvPr/>
        </p:nvSpPr>
        <p:spPr>
          <a:xfrm>
            <a:off x="6126480" y="4892040"/>
            <a:ext cx="1554480" cy="438912"/>
          </a:xfrm>
          <a:prstGeom prst="rect">
            <a:avLst/>
          </a:prstGeom>
          <a:solidFill>
            <a:srgbClr val="009CA6"/>
          </a:solidFill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开始学习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Arrow 29"/>
          <p:cNvCxnSpPr/>
          <p:nvPr/>
        </p:nvCxnSpPr>
        <p:spPr>
          <a:xfrm>
            <a:off x="7863840" y="5111496"/>
            <a:ext cx="594360" cy="9144"/>
          </a:xfrm>
          <a:prstGeom prst="line">
            <a:avLst/>
          </a:prstGeom>
          <a:ln w="52000">
            <a:solidFill>
              <a:srgbClr val="8BC20F"/>
            </a:solidFill>
            <a:tailEnd type="triangle"/>
          </a:ln>
        </p:spPr>
      </p:cxnSp>
      <p:sp>
        <p:nvSpPr>
          <p:cNvPr id="30" name="Flow step"/>
          <p:cNvSpPr txBox="1"/>
          <p:nvPr/>
        </p:nvSpPr>
        <p:spPr>
          <a:xfrm>
            <a:off x="8595360" y="4892040"/>
            <a:ext cx="2148840" cy="438912"/>
          </a:xfrm>
          <a:prstGeom prst="rect">
            <a:avLst/>
          </a:prstGeom>
          <a:solidFill>
            <a:srgbClr val="8BC20F"/>
          </a:solidFill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配置完成，开始检测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Key"/>
          <p:cNvSpPr txBox="1"/>
          <p:nvPr/>
        </p:nvSpPr>
        <p:spPr>
          <a:xfrm>
            <a:off x="6355080" y="374904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lang="zh-CN" sz="19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关键：不重新训练大模型，只注册 OK/NG 特征</a:t>
            </a:r>
            <a:endParaRPr lang="zh-CN" sz="19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学习时间短，适合产线快速换型</a:t>
            </a:r>
            <a:endParaRPr lang="zh-CN" sz="15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传统方法本质：少量人工特征 + 阈值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Image card"/>
          <p:cNvSpPr/>
          <p:nvPr/>
        </p:nvSpPr>
        <p:spPr>
          <a:xfrm>
            <a:off x="594360" y="914400"/>
            <a:ext cx="30632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1" name="Image title"/>
          <p:cNvSpPr txBox="1"/>
          <p:nvPr/>
        </p:nvSpPr>
        <p:spPr>
          <a:xfrm>
            <a:off x="640080" y="2670048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ROI 图像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ROI 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52579"/>
            <a:ext cx="2697480" cy="1361585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cxnSp>
        <p:nvCxnSpPr>
          <p:cNvPr id="13" name="Arrow 13"/>
          <p:cNvCxnSpPr/>
          <p:nvPr/>
        </p:nvCxnSpPr>
        <p:spPr>
          <a:xfrm>
            <a:off x="3840480" y="1874520"/>
            <a:ext cx="68580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4" name="Traditional box"/>
          <p:cNvSpPr txBox="1"/>
          <p:nvPr/>
        </p:nvSpPr>
        <p:spPr>
          <a:xfrm>
            <a:off x="4663440" y="960120"/>
            <a:ext cx="2971800" cy="2057400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手工特征</a:t>
            </a:r>
            <a:endParaRPr lang="zh-CN"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灰度均值 / 灰度标准差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HSV 色相 / 饱和度 / 明度均值</a:t>
            </a:r>
            <a:endParaRPr lang="zh-CN" sz="1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Arrow 15"/>
          <p:cNvCxnSpPr/>
          <p:nvPr/>
        </p:nvCxnSpPr>
        <p:spPr>
          <a:xfrm>
            <a:off x="7818120" y="1874520"/>
            <a:ext cx="68580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6" name="Threshold"/>
          <p:cNvSpPr txBox="1"/>
          <p:nvPr/>
        </p:nvSpPr>
        <p:spPr>
          <a:xfrm>
            <a:off x="8641080" y="960120"/>
            <a:ext cx="2651760" cy="20574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一个阈值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value &gt;= threshold =&gt; OK</a:t>
            </a:r>
            <a:endParaRPr 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否则 NG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Code"/>
          <p:cNvSpPr txBox="1"/>
          <p:nvPr/>
        </p:nvSpPr>
        <p:spPr>
          <a:xfrm>
            <a:off x="731520" y="3657600"/>
            <a:ext cx="10241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当前代码中的传统算法就是这种形式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algorithms/traditional.py：meanintensity、meanstd、meanhsv_h、meanhsv_s、meanhsv_v；训练时扫描阈值，选择训练集准确率最高的 threshold。</a:t>
            </a:r>
            <a:endParaRPr lang="zh-CN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One line"/>
          <p:cNvSpPr txBox="1"/>
          <p:nvPr/>
        </p:nvSpPr>
        <p:spPr>
          <a:xfrm>
            <a:off x="960120" y="5349240"/>
            <a:ext cx="9738360" cy="43891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0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问题根源：如果一个缺陷不能被“一个数值是否超过阈值”稳定描述，传统方法就会不可靠。</a:t>
            </a:r>
            <a:endParaRPr lang="zh-CN" sz="20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传统方法缺点：误判原因要一目了然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Problem"/>
          <p:cNvSpPr txBox="1"/>
          <p:nvPr/>
        </p:nvSpPr>
        <p:spPr>
          <a:xfrm>
            <a:off x="594360" y="914400"/>
            <a:ext cx="3246120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 lIns="45720" tIns="45720" rIns="45720" bIns="45720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光照变化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同一产品变亮/变暗，灰度均值、HSV-V 直接漂移，容易跨过阈值。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Problem"/>
          <p:cNvSpPr txBox="1"/>
          <p:nvPr/>
        </p:nvSpPr>
        <p:spPr>
          <a:xfrm>
            <a:off x="4343400" y="914400"/>
            <a:ext cx="3246120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wrap="square" lIns="45720" tIns="45720" rIns="45720" bIns="45720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ROI 偏移/姿态变化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框到一点背景、边缘或阴影，均值/标准差马上改变。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Problem"/>
          <p:cNvSpPr txBox="1"/>
          <p:nvPr/>
        </p:nvSpPr>
        <p:spPr>
          <a:xfrm>
            <a:off x="8092440" y="914400"/>
            <a:ext cx="3246120" cy="1417320"/>
          </a:xfrm>
          <a:prstGeom prst="rect">
            <a:avLst/>
          </a:prstGeom>
          <a:solidFill>
            <a:srgbClr val="6B2DA8"/>
          </a:solidFill>
          <a:ln>
            <a:noFill/>
          </a:ln>
        </p:spPr>
        <p:txBody>
          <a:bodyPr wrap="square" lIns="45720" tIns="45720" rIns="45720" bIns="45720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缺陷不是颜色变化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划痕、缺口、装配偏移可能平均亮度差不多，阈值看不出来。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hreshold chart"/>
          <p:cNvSpPr txBox="1"/>
          <p:nvPr/>
        </p:nvSpPr>
        <p:spPr>
          <a:xfrm>
            <a:off x="731520" y="2788920"/>
            <a:ext cx="5166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19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阈值法的典型风险：光照一变，OK/NG 数值区间重叠</a:t>
            </a:r>
            <a:endParaRPr lang="zh-CN" sz="19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Axis x"/>
          <p:cNvSpPr/>
          <p:nvPr/>
        </p:nvSpPr>
        <p:spPr>
          <a:xfrm>
            <a:off x="1097280" y="4617720"/>
            <a:ext cx="420624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</p:sp>
      <p:sp>
        <p:nvSpPr>
          <p:cNvPr id="15" name="Threshold line"/>
          <p:cNvSpPr/>
          <p:nvPr/>
        </p:nvSpPr>
        <p:spPr>
          <a:xfrm>
            <a:off x="3246120" y="3337560"/>
            <a:ext cx="36576" cy="146304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16" name="threshold label"/>
          <p:cNvSpPr txBox="1"/>
          <p:nvPr/>
        </p:nvSpPr>
        <p:spPr>
          <a:xfrm>
            <a:off x="2926080" y="306324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3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13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K dot"/>
          <p:cNvSpPr/>
          <p:nvPr/>
        </p:nvSpPr>
        <p:spPr>
          <a:xfrm>
            <a:off x="1600200" y="4297680"/>
            <a:ext cx="146304" cy="146304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8" name="OK dot"/>
          <p:cNvSpPr/>
          <p:nvPr/>
        </p:nvSpPr>
        <p:spPr>
          <a:xfrm>
            <a:off x="1920240" y="4078224"/>
            <a:ext cx="146304" cy="146304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9" name="OK dot"/>
          <p:cNvSpPr/>
          <p:nvPr/>
        </p:nvSpPr>
        <p:spPr>
          <a:xfrm>
            <a:off x="2240280" y="4224528"/>
            <a:ext cx="146304" cy="146304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20" name="OK dot"/>
          <p:cNvSpPr/>
          <p:nvPr/>
        </p:nvSpPr>
        <p:spPr>
          <a:xfrm>
            <a:off x="2788920" y="4023360"/>
            <a:ext cx="146304" cy="146304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21" name="NG dot"/>
          <p:cNvSpPr/>
          <p:nvPr/>
        </p:nvSpPr>
        <p:spPr>
          <a:xfrm>
            <a:off x="2834640" y="4434840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2" name="NG dot"/>
          <p:cNvSpPr/>
          <p:nvPr/>
        </p:nvSpPr>
        <p:spPr>
          <a:xfrm>
            <a:off x="3246120" y="431596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3" name="NG dot"/>
          <p:cNvSpPr/>
          <p:nvPr/>
        </p:nvSpPr>
        <p:spPr>
          <a:xfrm>
            <a:off x="3611880" y="4069080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4" name="NG dot"/>
          <p:cNvSpPr/>
          <p:nvPr/>
        </p:nvSpPr>
        <p:spPr>
          <a:xfrm>
            <a:off x="3977640" y="4261104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5" name="OK label"/>
          <p:cNvSpPr txBox="1"/>
          <p:nvPr/>
        </p:nvSpPr>
        <p:spPr>
          <a:xfrm>
            <a:off x="1234440" y="4800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300" b="1">
                <a:solidFill>
                  <a:srgbClr val="8BC20F"/>
                </a:solidFill>
                <a:latin typeface="微软雅黑" panose="020B0503020204020204" charset="-122"/>
                <a:ea typeface="微软雅黑" panose="020B0503020204020204" charset="-122"/>
              </a:rPr>
              <a:t>OK 数值</a:t>
            </a:r>
            <a:endParaRPr lang="zh-CN" sz="1300" b="1">
              <a:solidFill>
                <a:srgbClr val="8BC20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NG label"/>
          <p:cNvSpPr txBox="1"/>
          <p:nvPr/>
        </p:nvSpPr>
        <p:spPr>
          <a:xfrm>
            <a:off x="3703320" y="4800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3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NG 数值</a:t>
            </a:r>
            <a:endParaRPr lang="zh-CN" sz="13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Impact"/>
          <p:cNvSpPr txBox="1"/>
          <p:nvPr/>
        </p:nvSpPr>
        <p:spPr>
          <a:xfrm>
            <a:off x="6263640" y="2788920"/>
            <a:ext cx="48463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对产线意味着什么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灯光衰减、反光、曝光变化后要重新调阈值。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产品换批、材质颜色差异会改变统计值。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多种缺陷要写多套规则，维护成本上升。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阈值一旦卡得太紧，容易误杀 OK；卡得太松，容易漏检 NG。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为什么模型检测方式更好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card accent"/>
          <p:cNvSpPr/>
          <p:nvPr/>
        </p:nvSpPr>
        <p:spPr>
          <a:xfrm>
            <a:off x="594360" y="914400"/>
            <a:ext cx="128016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model advantage"/>
          <p:cNvSpPr txBox="1"/>
          <p:nvPr/>
        </p:nvSpPr>
        <p:spPr>
          <a:xfrm>
            <a:off x="758952" y="914400"/>
            <a:ext cx="4983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看结构，而不是只看平均值</a:t>
            </a:r>
            <a:endParaRPr lang="zh-CN" sz="2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CNN 特征会组合边缘、纹理、形状和局部空间模式；缺口、划痕、偏移更容易被表达。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card accent"/>
          <p:cNvSpPr/>
          <p:nvPr/>
        </p:nvSpPr>
        <p:spPr>
          <a:xfrm>
            <a:off x="6309360" y="914400"/>
            <a:ext cx="128016" cy="150876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13" name="model advantage"/>
          <p:cNvSpPr txBox="1"/>
          <p:nvPr/>
        </p:nvSpPr>
        <p:spPr>
          <a:xfrm>
            <a:off x="6473952" y="914400"/>
            <a:ext cx="4983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对光照更稳</a:t>
            </a:r>
            <a:endParaRPr lang="zh-CN" sz="2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输入做 ImageNet 标准化，输出做 L2 归一化，再用 cosine 相似度；整体亮暗变化对判定影响更小。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card accent"/>
          <p:cNvSpPr/>
          <p:nvPr/>
        </p:nvSpPr>
        <p:spPr>
          <a:xfrm>
            <a:off x="594360" y="2971800"/>
            <a:ext cx="128016" cy="1508760"/>
          </a:xfrm>
          <a:prstGeom prst="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5" name="model advantage"/>
          <p:cNvSpPr txBox="1"/>
          <p:nvPr/>
        </p:nvSpPr>
        <p:spPr>
          <a:xfrm>
            <a:off x="758952" y="2971800"/>
            <a:ext cx="4983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少样本即可学习</a:t>
            </a:r>
            <a:endParaRPr lang="zh-CN" sz="2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不训练新分类器，只提取 OK/NG 样本 embedding，形成原型和样本库。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card accent"/>
          <p:cNvSpPr/>
          <p:nvPr/>
        </p:nvSpPr>
        <p:spPr>
          <a:xfrm>
            <a:off x="6309360" y="2971800"/>
            <a:ext cx="128016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17" name="model advantage"/>
          <p:cNvSpPr txBox="1"/>
          <p:nvPr/>
        </p:nvSpPr>
        <p:spPr>
          <a:xfrm>
            <a:off x="6473952" y="2971800"/>
            <a:ext cx="4983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快速换型</a:t>
            </a:r>
            <a:endParaRPr lang="zh-CN" sz="2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backbone 复用；换产品主要重新标 ROI、采 OK/NG 样本并保存 npz。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Pragmatic note"/>
          <p:cNvSpPr txBox="1"/>
          <p:nvPr/>
        </p:nvSpPr>
        <p:spPr>
          <a:xfrm>
            <a:off x="1143000" y="5349240"/>
            <a:ext cx="9372600" cy="56692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lang="zh-CN"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注意：模型方法不是完全不怕光照；它的优势是比单一灰度/颜色阈值更能利用结构信息，轻微光照波动下更不容易被数值漂移带偏。</a:t>
            </a:r>
            <a:endParaRPr lang="zh-CN"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算法原理图：训练阶段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Image card"/>
          <p:cNvSpPr/>
          <p:nvPr/>
        </p:nvSpPr>
        <p:spPr>
          <a:xfrm>
            <a:off x="502920" y="914400"/>
            <a:ext cx="2011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1" name="Image title"/>
          <p:cNvSpPr txBox="1"/>
          <p:nvPr/>
        </p:nvSpPr>
        <p:spPr>
          <a:xfrm>
            <a:off x="548640" y="18928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OK/NG 样本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OK/NG 样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141" y="1078992"/>
            <a:ext cx="1449238" cy="73152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cxnSp>
        <p:nvCxnSpPr>
          <p:cNvPr id="13" name="Arrow 13"/>
          <p:cNvCxnSpPr/>
          <p:nvPr/>
        </p:nvCxnSpPr>
        <p:spPr>
          <a:xfrm>
            <a:off x="2697480" y="1572768"/>
            <a:ext cx="54864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4" name="ROI"/>
          <p:cNvSpPr txBox="1"/>
          <p:nvPr/>
        </p:nvSpPr>
        <p:spPr>
          <a:xfrm>
            <a:off x="3383280" y="914400"/>
            <a:ext cx="1691640" cy="1325880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ROI 裁剪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矩形 / polygon mask</a:t>
            </a:r>
            <a:endParaRPr 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Arrow 15"/>
          <p:cNvCxnSpPr/>
          <p:nvPr/>
        </p:nvCxnSpPr>
        <p:spPr>
          <a:xfrm>
            <a:off x="5257800" y="1572768"/>
            <a:ext cx="54864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6" name="Backbone"/>
          <p:cNvSpPr txBox="1"/>
          <p:nvPr/>
        </p:nvSpPr>
        <p:spPr>
          <a:xfrm>
            <a:off x="5943600" y="914400"/>
            <a:ext cx="2011680" cy="1325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预训练 CNN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3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EfficientNet / MobileNetV3</a:t>
            </a:r>
            <a:endParaRPr lang="zh-CN" sz="13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Arrow 17"/>
          <p:cNvCxnSpPr/>
          <p:nvPr/>
        </p:nvCxnSpPr>
        <p:spPr>
          <a:xfrm>
            <a:off x="8138160" y="1572768"/>
            <a:ext cx="54864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8" name="Embedding"/>
          <p:cNvSpPr txBox="1"/>
          <p:nvPr/>
        </p:nvSpPr>
        <p:spPr>
          <a:xfrm>
            <a:off x="8823960" y="914400"/>
            <a:ext cx="2057400" cy="132588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Embedding 向量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池化 + 归一化</a:t>
            </a:r>
            <a:endParaRPr 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Arrow 19"/>
          <p:cNvCxnSpPr/>
          <p:nvPr/>
        </p:nvCxnSpPr>
        <p:spPr>
          <a:xfrm>
            <a:off x="9829800" y="2331720"/>
            <a:ext cx="9144" cy="502920"/>
          </a:xfrm>
          <a:prstGeom prst="line">
            <a:avLst/>
          </a:prstGeom>
          <a:ln w="42000">
            <a:solidFill>
              <a:srgbClr val="8BC20F"/>
            </a:solidFill>
            <a:tailEnd type="triangle"/>
          </a:ln>
        </p:spPr>
      </p:cxnSp>
      <p:sp>
        <p:nvSpPr>
          <p:cNvPr id="20" name="Bank"/>
          <p:cNvSpPr txBox="1"/>
          <p:nvPr/>
        </p:nvSpPr>
        <p:spPr>
          <a:xfrm>
            <a:off x="6400800" y="2971800"/>
            <a:ext cx="42976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生成注册模型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ok_proto / ng_proto：OK、NG 的中心特征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7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ok_bank / ng_bank：OK、NG 样本特征库</a:t>
            </a:r>
            <a:endParaRPr lang="zh-CN" sz="17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Image card"/>
          <p:cNvSpPr/>
          <p:nvPr/>
        </p:nvSpPr>
        <p:spPr>
          <a:xfrm>
            <a:off x="731520" y="2880360"/>
            <a:ext cx="4480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22" name="Image title"/>
          <p:cNvSpPr txBox="1"/>
          <p:nvPr/>
        </p:nvSpPr>
        <p:spPr>
          <a:xfrm>
            <a:off x="777240" y="4590288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OK/NG 特征在空间中分开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OK/NG 特征在空间中分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296" y="3044952"/>
            <a:ext cx="1763008" cy="146304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sp>
        <p:nvSpPr>
          <p:cNvPr id="24" name="Training note"/>
          <p:cNvSpPr txBox="1"/>
          <p:nvPr/>
        </p:nvSpPr>
        <p:spPr>
          <a:xfrm>
            <a:off x="960120" y="5349240"/>
            <a:ext cx="992124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训练不是重新训练 CNN，而是把当前产品的 OK/NG 样本压缩成特征库；所以小样本、速度快、易换型。</a:t>
            </a:r>
            <a:endParaRPr lang="zh-CN"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算法原理图：检测阶段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Image card"/>
          <p:cNvSpPr/>
          <p:nvPr/>
        </p:nvSpPr>
        <p:spPr>
          <a:xfrm>
            <a:off x="502920" y="914400"/>
            <a:ext cx="27432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7A7A7"/>
            </a:solidFill>
          </a:ln>
        </p:spPr>
      </p:sp>
      <p:sp>
        <p:nvSpPr>
          <p:cNvPr id="11" name="Image title"/>
          <p:cNvSpPr txBox="1"/>
          <p:nvPr/>
        </p:nvSpPr>
        <p:spPr>
          <a:xfrm>
            <a:off x="548640" y="24871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待检测图 + ROI</a:t>
            </a:r>
            <a:endParaRPr lang="zh-CN" sz="14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待检测图 + RO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987" y="1078992"/>
            <a:ext cx="1917066" cy="1325880"/>
          </a:xfrm>
          <a:prstGeom prst="rect">
            <a:avLst/>
          </a:prstGeom>
          <a:ln w="6350">
            <a:solidFill>
              <a:srgbClr val="D1D5DB"/>
            </a:solidFill>
          </a:ln>
        </p:spPr>
      </p:pic>
      <p:cxnSp>
        <p:nvCxnSpPr>
          <p:cNvPr id="13" name="Arrow 13"/>
          <p:cNvCxnSpPr/>
          <p:nvPr/>
        </p:nvCxnSpPr>
        <p:spPr>
          <a:xfrm>
            <a:off x="3429000" y="1874520"/>
            <a:ext cx="54864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4" name="Same model"/>
          <p:cNvSpPr txBox="1"/>
          <p:nvPr/>
        </p:nvSpPr>
        <p:spPr>
          <a:xfrm>
            <a:off x="4114800" y="1097280"/>
            <a:ext cx="1965960" cy="1554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同一个 CNN</a:t>
            </a:r>
            <a:endParaRPr lang="zh-CN"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输出当前 ROI 的 e 向量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Arrow 15"/>
          <p:cNvCxnSpPr/>
          <p:nvPr/>
        </p:nvCxnSpPr>
        <p:spPr>
          <a:xfrm>
            <a:off x="6263640" y="1874520"/>
            <a:ext cx="54864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6" name="Similarity"/>
          <p:cNvSpPr txBox="1"/>
          <p:nvPr/>
        </p:nvSpPr>
        <p:spPr>
          <a:xfrm>
            <a:off x="6949440" y="914400"/>
            <a:ext cx="3794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相似度比较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simOK = e · ok_proto</a:t>
            </a:r>
            <a:endParaRPr lang="zh-CN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simNG = e · ng_proto</a:t>
            </a:r>
            <a:endParaRPr lang="zh-CN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9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diff = simOK - simNG</a:t>
            </a:r>
            <a:endParaRPr lang="zh-CN" sz="19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Decision"/>
          <p:cNvSpPr txBox="1"/>
          <p:nvPr/>
        </p:nvSpPr>
        <p:spPr>
          <a:xfrm>
            <a:off x="914400" y="3657600"/>
            <a:ext cx="4434840" cy="128016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判定规则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diff &gt;= margin  判 OK；否则判 NG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opK"/>
          <p:cNvSpPr txBox="1"/>
          <p:nvPr/>
        </p:nvSpPr>
        <p:spPr>
          <a:xfrm>
            <a:off x="6080760" y="3520440"/>
            <a:ext cx="48463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Top-K 模式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8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如果样本分布不是一个中心能代表，就取最像的 k 个 OK/NG 样本均值，减少单个异常样本影响。</a:t>
            </a:r>
            <a:endParaRPr lang="zh-CN" sz="18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为什么要丢弃头部：保留特征，丢掉 ImageNet 分类器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Input"/>
          <p:cNvSpPr txBox="1"/>
          <p:nvPr/>
        </p:nvSpPr>
        <p:spPr>
          <a:xfrm>
            <a:off x="594360" y="1234440"/>
            <a:ext cx="1554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ROI 图像</a:t>
            </a:r>
            <a:endParaRPr lang="zh-CN"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224×224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Arrow 11"/>
          <p:cNvCxnSpPr/>
          <p:nvPr/>
        </p:nvCxnSpPr>
        <p:spPr>
          <a:xfrm>
            <a:off x="2240280" y="1645920"/>
            <a:ext cx="502920" cy="9144"/>
          </a:xfrm>
          <a:prstGeom prst="line">
            <a:avLst/>
          </a:prstGeom>
          <a:ln w="42000">
            <a:solidFill>
              <a:srgbClr val="009CA6"/>
            </a:solidFill>
            <a:tailEnd type="triangle"/>
          </a:ln>
        </p:spPr>
      </p:cxnSp>
      <p:sp>
        <p:nvSpPr>
          <p:cNvPr id="12" name="Features"/>
          <p:cNvSpPr txBox="1"/>
          <p:nvPr/>
        </p:nvSpPr>
        <p:spPr>
          <a:xfrm>
            <a:off x="2880360" y="1234440"/>
            <a:ext cx="224028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CNN features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边缘 / 纹理 / 形状</a:t>
            </a:r>
            <a:endParaRPr 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Arrow 13"/>
          <p:cNvCxnSpPr/>
          <p:nvPr/>
        </p:nvCxnSpPr>
        <p:spPr>
          <a:xfrm>
            <a:off x="5257800" y="1645920"/>
            <a:ext cx="502920" cy="9144"/>
          </a:xfrm>
          <a:prstGeom prst="line">
            <a:avLst/>
          </a:prstGeom>
          <a:ln w="42000">
            <a:solidFill>
              <a:srgbClr val="DC2626"/>
            </a:solidFill>
            <a:tailEnd type="triangle"/>
          </a:ln>
        </p:spPr>
      </p:cxnSp>
      <p:sp>
        <p:nvSpPr>
          <p:cNvPr id="14" name="Head"/>
          <p:cNvSpPr txBox="1"/>
          <p:nvPr/>
        </p:nvSpPr>
        <p:spPr>
          <a:xfrm>
            <a:off x="5897880" y="1234440"/>
            <a:ext cx="196596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分类头 Head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ImageNet 1000 类</a:t>
            </a:r>
            <a:endParaRPr 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Arrow 17"/>
          <p:cNvCxnSpPr/>
          <p:nvPr/>
        </p:nvCxnSpPr>
        <p:spPr>
          <a:xfrm>
            <a:off x="4754880" y="2148840"/>
            <a:ext cx="9144" cy="685800"/>
          </a:xfrm>
          <a:prstGeom prst="line">
            <a:avLst/>
          </a:prstGeom>
          <a:ln w="42000">
            <a:solidFill>
              <a:srgbClr val="8BC20F"/>
            </a:solidFill>
            <a:tailEnd type="triangle"/>
          </a:ln>
        </p:spPr>
      </p:cxnSp>
      <p:sp>
        <p:nvSpPr>
          <p:cNvPr id="18" name="Embedding branch"/>
          <p:cNvSpPr txBox="1"/>
          <p:nvPr/>
        </p:nvSpPr>
        <p:spPr>
          <a:xfrm>
            <a:off x="3337560" y="2971800"/>
            <a:ext cx="2834640" cy="9144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全局池化 + L2 归一化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得到通用 embedding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Arrow 19"/>
          <p:cNvCxnSpPr/>
          <p:nvPr/>
        </p:nvCxnSpPr>
        <p:spPr>
          <a:xfrm>
            <a:off x="6309360" y="3429000"/>
            <a:ext cx="594360" cy="9144"/>
          </a:xfrm>
          <a:prstGeom prst="line">
            <a:avLst/>
          </a:prstGeom>
          <a:ln w="42000">
            <a:solidFill>
              <a:srgbClr val="8BC20F"/>
            </a:solidFill>
            <a:tailEnd type="triangle"/>
          </a:ln>
        </p:spPr>
      </p:cxnSp>
      <p:sp>
        <p:nvSpPr>
          <p:cNvPr id="20" name="Similarity branch"/>
          <p:cNvSpPr txBox="1"/>
          <p:nvPr/>
        </p:nvSpPr>
        <p:spPr>
          <a:xfrm>
            <a:off x="7040880" y="2971800"/>
            <a:ext cx="2834640" cy="914400"/>
          </a:xfrm>
          <a:prstGeom prst="roundRect">
            <a:avLst/>
          </a:prstGeom>
          <a:solidFill>
            <a:srgbClr val="009CA6"/>
          </a:solidFill>
          <a:ln>
            <a:noFill/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OK/NG 相似度</a:t>
            </a:r>
            <a:endParaRPr lang="zh-CN"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适配当前产品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Why discard"/>
          <p:cNvSpPr txBox="1"/>
          <p:nvPr/>
        </p:nvSpPr>
        <p:spPr>
          <a:xfrm>
            <a:off x="777240" y="4343400"/>
            <a:ext cx="101498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丢弃头部的原因</a:t>
            </a:r>
            <a:endParaRPr lang="zh-CN" sz="23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原分类头回答的是 ImageNet 类别，例如猫、狗、车，不回答“当前零件 OK/NG”。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如果重新训练一个 OK/NG 头部，需要大量缺陷样本和训练流程；这不符合产线少样本快速学习。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8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保留 features 可以利用预训练模型学到的通用视觉表示，再用相似度完成当前产品检测。</a:t>
            </a:r>
            <a:endParaRPr lang="zh-CN" sz="18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9" name="Discard badge"/>
          <p:cNvSpPr txBox="1"/>
          <p:nvPr/>
        </p:nvSpPr>
        <p:spPr>
          <a:xfrm>
            <a:off x="7223760" y="1005840"/>
            <a:ext cx="8412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4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</a:rPr>
              <a:t>丢弃</a:t>
            </a:r>
            <a:endParaRPr lang="zh-CN" sz="14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模型选择与层选择说明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Table header"/>
          <p:cNvSpPr txBox="1"/>
          <p:nvPr/>
        </p:nvSpPr>
        <p:spPr>
          <a:xfrm>
            <a:off x="685800" y="914400"/>
            <a:ext cx="201168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FFFFFF"/>
            </a:solidFill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able header"/>
          <p:cNvSpPr txBox="1"/>
          <p:nvPr/>
        </p:nvSpPr>
        <p:spPr>
          <a:xfrm>
            <a:off x="2697480" y="914400"/>
            <a:ext cx="114300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FFFFFF"/>
            </a:solidFill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维度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able header"/>
          <p:cNvSpPr txBox="1"/>
          <p:nvPr/>
        </p:nvSpPr>
        <p:spPr>
          <a:xfrm>
            <a:off x="3840480" y="914400"/>
            <a:ext cx="228600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FFFFFF"/>
            </a:solidFill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工具定位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able header"/>
          <p:cNvSpPr txBox="1"/>
          <p:nvPr/>
        </p:nvSpPr>
        <p:spPr>
          <a:xfrm>
            <a:off x="6126480" y="914400"/>
            <a:ext cx="5120640" cy="502920"/>
          </a:xfrm>
          <a:prstGeom prst="rect">
            <a:avLst/>
          </a:prstGeom>
          <a:solidFill>
            <a:srgbClr val="009CA6"/>
          </a:solidFill>
          <a:ln w="12700">
            <a:solidFill>
              <a:srgbClr val="FFFFFF"/>
            </a:solidFill>
          </a:ln>
        </p:spPr>
        <p:txBody>
          <a:bodyPr wrap="square" lIns="9144" tIns="9144" rIns="9144" bIns="9144">
            <a:spAutoFit/>
          </a:bodyPr>
          <a:lstStyle/>
          <a:p>
            <a:pPr algn="l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为什么选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able cell"/>
          <p:cNvSpPr txBox="1"/>
          <p:nvPr/>
        </p:nvSpPr>
        <p:spPr>
          <a:xfrm>
            <a:off x="685800" y="14173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EfficientNet-B0</a:t>
            </a:r>
            <a:endParaRPr lang="zh-CN"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able cell"/>
          <p:cNvSpPr txBox="1"/>
          <p:nvPr/>
        </p:nvSpPr>
        <p:spPr>
          <a:xfrm>
            <a:off x="2697480" y="14173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1280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able cell"/>
          <p:cNvSpPr txBox="1"/>
          <p:nvPr/>
        </p:nvSpPr>
        <p:spPr>
          <a:xfrm>
            <a:off x="3840480" y="141732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高精度学习工具 / 默认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able cell"/>
          <p:cNvSpPr txBox="1"/>
          <p:nvPr/>
        </p:nvSpPr>
        <p:spPr>
          <a:xfrm>
            <a:off x="6126480" y="141732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表达能力强，适合缺陷差异细微、精度优先场景。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able cell"/>
          <p:cNvSpPr txBox="1"/>
          <p:nvPr/>
        </p:nvSpPr>
        <p:spPr>
          <a:xfrm>
            <a:off x="685800" y="2103120"/>
            <a:ext cx="201168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MobileNetV3 Small</a:t>
            </a:r>
            <a:endParaRPr lang="zh-CN"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able cell"/>
          <p:cNvSpPr txBox="1"/>
          <p:nvPr/>
        </p:nvSpPr>
        <p:spPr>
          <a:xfrm>
            <a:off x="2697480" y="2103120"/>
            <a:ext cx="11430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576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able cell"/>
          <p:cNvSpPr txBox="1"/>
          <p:nvPr/>
        </p:nvSpPr>
        <p:spPr>
          <a:xfrm>
            <a:off x="3840480" y="2103120"/>
            <a:ext cx="228600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轻量学习工具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able cell"/>
          <p:cNvSpPr txBox="1"/>
          <p:nvPr/>
        </p:nvSpPr>
        <p:spPr>
          <a:xfrm>
            <a:off x="6126480" y="2103120"/>
            <a:ext cx="5120640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速度快、资源占用低，适合多 ROI 或低算力设备。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able cell"/>
          <p:cNvSpPr txBox="1"/>
          <p:nvPr/>
        </p:nvSpPr>
        <p:spPr>
          <a:xfrm>
            <a:off x="685800" y="2788920"/>
            <a:ext cx="2011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MobileNetV3 Large</a:t>
            </a:r>
            <a:endParaRPr lang="zh-CN" sz="1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able cell"/>
          <p:cNvSpPr txBox="1"/>
          <p:nvPr/>
        </p:nvSpPr>
        <p:spPr>
          <a:xfrm>
            <a:off x="2697480" y="278892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960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able cell"/>
          <p:cNvSpPr txBox="1"/>
          <p:nvPr/>
        </p:nvSpPr>
        <p:spPr>
          <a:xfrm>
            <a:off x="3840480" y="278892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均衡学习工具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able cell"/>
          <p:cNvSpPr txBox="1"/>
          <p:nvPr/>
        </p:nvSpPr>
        <p:spPr>
          <a:xfrm>
            <a:off x="6126480" y="2788920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lang="zh-CN" sz="13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在速度和表达能力之间折中。</a:t>
            </a:r>
            <a:endParaRPr lang="zh-CN" sz="13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Layer"/>
          <p:cNvSpPr txBox="1"/>
          <p:nvPr/>
        </p:nvSpPr>
        <p:spPr>
          <a:xfrm>
            <a:off x="868680" y="4069080"/>
            <a:ext cx="1010412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层选择结论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代码没有手工挑某个中间层；实际使用 torchvision 模型的 model.features 最终输出，去掉分类头后做 AdaptiveAvgPool2d(1) 和 F.normalize。</a:t>
            </a:r>
            <a:endParaRPr lang="zh-CN" sz="1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Code ref"/>
          <p:cNvSpPr txBox="1"/>
          <p:nvPr/>
        </p:nvSpPr>
        <p:spPr>
          <a:xfrm>
            <a:off x="1143000" y="5532120"/>
            <a:ext cx="9555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代码依据：algorithms/embedding.py 中 _build_torch_backbone_model、_NormalizedEmbeddingBackbone、train_register_model、predict_one_with_model。</a:t>
            </a:r>
            <a:endParaRPr lang="zh-CN" sz="14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</p:sp>
      <p:sp>
        <p:nvSpPr>
          <p:cNvPr id="3" name="Left 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411480" y="13716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4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结论：传统方法做辅助，模型特征做主方案</a:t>
            </a:r>
            <a:endParaRPr lang="zh-CN" sz="24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Bottom teal dot"/>
          <p:cNvSpPr/>
          <p:nvPr/>
        </p:nvSpPr>
        <p:spPr>
          <a:xfrm>
            <a:off x="836676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6" name="Bottom teal dot 2"/>
          <p:cNvSpPr/>
          <p:nvPr/>
        </p:nvSpPr>
        <p:spPr>
          <a:xfrm>
            <a:off x="873252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7" name="Bottom pill"/>
          <p:cNvSpPr/>
          <p:nvPr/>
        </p:nvSpPr>
        <p:spPr>
          <a:xfrm>
            <a:off x="9098280" y="6492240"/>
            <a:ext cx="685800" cy="228600"/>
          </a:xfrm>
          <a:prstGeom prst="roundRect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8" name="Bottom teal dot 3"/>
          <p:cNvSpPr/>
          <p:nvPr/>
        </p:nvSpPr>
        <p:spPr>
          <a:xfrm>
            <a:off x="9921240" y="6492240"/>
            <a:ext cx="228600" cy="228600"/>
          </a:xfrm>
          <a:prstGeom prst="ellipse">
            <a:avLst/>
          </a:prstGeom>
          <a:solidFill>
            <a:srgbClr val="009CA6"/>
          </a:solidFill>
          <a:ln>
            <a:noFill/>
          </a:ln>
        </p:spPr>
      </p:sp>
      <p:sp>
        <p:nvSpPr>
          <p:cNvPr id="9" name="Bottom teal dot 4"/>
          <p:cNvSpPr/>
          <p:nvPr/>
        </p:nvSpPr>
        <p:spPr>
          <a:xfrm>
            <a:off x="10287000" y="6492240"/>
            <a:ext cx="228600" cy="228600"/>
          </a:xfrm>
          <a:prstGeom prst="ellipse">
            <a:avLst/>
          </a:prstGeom>
          <a:solidFill>
            <a:srgbClr val="8BC20F"/>
          </a:solidFill>
          <a:ln>
            <a:noFill/>
          </a:ln>
        </p:spPr>
      </p:sp>
      <p:sp>
        <p:nvSpPr>
          <p:cNvPr id="10" name="Left conclusion"/>
          <p:cNvSpPr txBox="1"/>
          <p:nvPr/>
        </p:nvSpPr>
        <p:spPr>
          <a:xfrm>
            <a:off x="731520" y="914400"/>
            <a:ext cx="5029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500" b="1">
                <a:solidFill>
                  <a:srgbClr val="009CA6"/>
                </a:solidFill>
                <a:latin typeface="微软雅黑" panose="020B0503020204020204" charset="-122"/>
                <a:ea typeface="微软雅黑" panose="020B0503020204020204" charset="-122"/>
              </a:rPr>
              <a:t>传统方法适合什么</a:t>
            </a:r>
            <a:endParaRPr lang="zh-CN" sz="2500" b="1">
              <a:solidFill>
                <a:srgbClr val="009CA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缺陷表现为非常单一的亮度/颜色差异。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环境光、相机曝光、产品位置都很稳定。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只需要一个指标和阈值就能清晰分开 OK/NG。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在本项目中可作为基线或简单工具。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ight conclusion"/>
          <p:cNvSpPr txBox="1"/>
          <p:nvPr/>
        </p:nvSpPr>
        <p:spPr>
          <a:xfrm>
            <a:off x="6263640" y="914400"/>
            <a:ext cx="5029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lang="zh-CN" sz="2500" b="1">
                <a:solidFill>
                  <a:srgbClr val="8BC20F"/>
                </a:solidFill>
                <a:latin typeface="微软雅黑" panose="020B0503020204020204" charset="-122"/>
                <a:ea typeface="微软雅黑" panose="020B0503020204020204" charset="-122"/>
              </a:rPr>
              <a:t>模型检测为什么作为主方案</a:t>
            </a:r>
            <a:endParaRPr lang="zh-CN" sz="2500" b="1">
              <a:solidFill>
                <a:srgbClr val="8BC20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同时利用颜色、纹理、边缘、形状和局部结构。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对轻微光照/材质/ROI 波动比单阈值更稳。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少量 OK/NG 样本即可注册，不需要大量训练数据。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40030" indent="-139700">
              <a:buFont typeface="微软雅黑" panose="020B0503020204020204" charset="-122"/>
              <a:buChar char="▪"/>
            </a:pPr>
            <a:r>
              <a:rPr lang="zh-CN" sz="190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换产品只需重采样本和 ROI，工程维护更简单。</a:t>
            </a:r>
            <a:endParaRPr lang="zh-CN" sz="190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Final"/>
          <p:cNvSpPr txBox="1"/>
          <p:nvPr/>
        </p:nvSpPr>
        <p:spPr>
          <a:xfrm>
            <a:off x="1005840" y="5532120"/>
            <a:ext cx="10012680" cy="5486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7DD3FC"/>
            </a:solidFill>
          </a:ln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zh-CN" sz="20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</a:rPr>
              <a:t>一句话：传统阈值看“数值是否变了”，模型 embedding 看“这个 ROI 整体视觉特征更像 OK 还是 NG”。</a:t>
            </a:r>
            <a:endParaRPr lang="zh-CN" sz="20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64310" y="1058545"/>
            <a:ext cx="736282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方便车间维护</a:t>
            </a:r>
            <a:r>
              <a:rPr lang="en-US" altLang="zh-CN"/>
              <a:t>  </a:t>
            </a:r>
            <a:r>
              <a:rPr lang="zh-CN" altLang="en-US"/>
              <a:t>不用改代码</a:t>
            </a:r>
            <a:r>
              <a:rPr lang="en-US" altLang="zh-CN"/>
              <a:t>  </a:t>
            </a:r>
            <a:r>
              <a:rPr lang="zh-CN" altLang="en-US"/>
              <a:t>界面操作就</a:t>
            </a:r>
            <a:r>
              <a:rPr lang="zh-CN" altLang="en-US"/>
              <a:t>行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772920"/>
            <a:ext cx="3981450" cy="36766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72920"/>
            <a:ext cx="4295775" cy="3819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dustrial Vision">
  <a:themeElements>
    <a:clrScheme name="Industrial">
      <a:dk1>
        <a:srgbClr val="111827"/>
      </a:dk1>
      <a:lt1>
        <a:srgbClr val="FFFFFF"/>
      </a:lt1>
      <a:dk2>
        <a:srgbClr val="475569"/>
      </a:dk2>
      <a:lt2>
        <a:srgbClr val="F7F7F5"/>
      </a:lt2>
      <a:accent1>
        <a:srgbClr val="009CA6"/>
      </a:accent1>
      <a:accent2>
        <a:srgbClr val="8BC20F"/>
      </a:accent2>
      <a:accent3>
        <a:srgbClr val="F97316"/>
      </a:accent3>
      <a:accent4>
        <a:srgbClr val="6B2DA8"/>
      </a:accent4>
      <a:accent5>
        <a:srgbClr val="DC2626"/>
      </a:accent5>
      <a:accent6>
        <a:srgbClr val="2563EB"/>
      </a:accent6>
      <a:hlink>
        <a:srgbClr val="2563EB"/>
      </a:hlink>
      <a:folHlink>
        <a:srgbClr val="6B2DA8"/>
      </a:folHlink>
    </a:clrScheme>
    <a:fontScheme name="Microsoft YaHei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fm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WPS 演示</Application>
  <PresentationFormat/>
  <Paragraphs>203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Industrial Vision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Embedding 视觉检测算法分析增强版</dc:title>
  <dc:creator>Codex</dc:creator>
  <cp:lastModifiedBy>Seven</cp:lastModifiedBy>
  <cp:revision>3</cp:revision>
  <dcterms:created xsi:type="dcterms:W3CDTF">2026-05-07T05:14:41Z</dcterms:created>
  <dcterms:modified xsi:type="dcterms:W3CDTF">2026-05-07T05:17:37Z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EB6E2DC2B7C34FE6B928181884C7E61D_12</vt:lpwstr>
  </property>
  <property fmtid="{D5CDD505-2E9C-101B-9397-08002B2CF9AE}" pid="3" name="KSOProductBuildVer">
    <vt:lpwstr>2052-12.1.0.25865</vt:lpwstr>
  </property>
</Properties>
</file>